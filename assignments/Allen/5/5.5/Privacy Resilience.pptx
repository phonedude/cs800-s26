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7" roundtripDataSignature="AMtx7mic8vPaNHQmxiTEyH/UYuB+yCPCY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2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6" name="Google Shape;26;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22"/>
          <p:cNvSpPr txBox="1"/>
          <p:nvPr/>
        </p:nvSpPr>
        <p:spPr>
          <a:xfrm>
            <a:off x="311705" y="4663225"/>
            <a:ext cx="27504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CS 800 Research Methods</a:t>
            </a:r>
            <a:endParaRPr b="0" i="0" sz="1100" u="none" cap="none" strike="noStrike">
              <a:solidFill>
                <a:schemeClr val="dk1"/>
              </a:solidFill>
              <a:latin typeface="Arial"/>
              <a:ea typeface="Arial"/>
              <a:cs typeface="Arial"/>
              <a:sym typeface="Arial"/>
            </a:endParaRPr>
          </a:p>
        </p:txBody>
      </p:sp>
      <p:sp>
        <p:nvSpPr>
          <p:cNvPr id="10" name="Google Shape;10;p22"/>
          <p:cNvSpPr txBox="1"/>
          <p:nvPr/>
        </p:nvSpPr>
        <p:spPr>
          <a:xfrm>
            <a:off x="5916875" y="4663225"/>
            <a:ext cx="27504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Arial"/>
                <a:ea typeface="Arial"/>
                <a:cs typeface="Arial"/>
                <a:sym typeface="Arial"/>
              </a:rPr>
              <a:t>Spring 2026</a:t>
            </a:r>
            <a:endParaRPr b="0" i="0" sz="11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linkedin.com/in/lulu-allen/" TargetMode="External"/><Relationship Id="rId4" Type="http://schemas.openxmlformats.org/officeDocument/2006/relationships/hyperlink" Target="https://pubmed.ncbi.nlm.nih.gov/40534991/" TargetMode="External"/><Relationship Id="rId5" Type="http://schemas.openxmlformats.org/officeDocument/2006/relationships/hyperlink" Target="https://pubmed.ncbi.nlm.nih.gov/34022422/"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ctrTitle"/>
          </p:nvPr>
        </p:nvSpPr>
        <p:spPr>
          <a:xfrm>
            <a:off x="311700" y="744575"/>
            <a:ext cx="8520600" cy="1318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5200"/>
              <a:buNone/>
            </a:pPr>
            <a:r>
              <a:rPr b="1" lang="en" sz="2800"/>
              <a:t>Privacy Resilience in Genomic Data: </a:t>
            </a:r>
            <a:endParaRPr b="1" sz="2800"/>
          </a:p>
          <a:p>
            <a:pPr indent="0" lvl="0" marL="0" rtl="0" algn="ctr">
              <a:lnSpc>
                <a:spcPct val="100000"/>
              </a:lnSpc>
              <a:spcBef>
                <a:spcPts val="0"/>
              </a:spcBef>
              <a:spcAft>
                <a:spcPts val="0"/>
              </a:spcAft>
              <a:buSzPts val="5200"/>
              <a:buNone/>
            </a:pPr>
            <a:r>
              <a:rPr b="1" lang="en" sz="2800"/>
              <a:t>Analysis &amp; Cybersecurity Defense</a:t>
            </a:r>
            <a:endParaRPr b="1" sz="2800"/>
          </a:p>
        </p:txBody>
      </p:sp>
      <p:sp>
        <p:nvSpPr>
          <p:cNvPr id="57" name="Google Shape;57;p1"/>
          <p:cNvSpPr txBox="1"/>
          <p:nvPr>
            <p:ph idx="1" type="subTitle"/>
          </p:nvPr>
        </p:nvSpPr>
        <p:spPr>
          <a:xfrm>
            <a:off x="311700" y="1808493"/>
            <a:ext cx="8520600" cy="4476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0"/>
              </a:spcBef>
              <a:spcAft>
                <a:spcPts val="0"/>
              </a:spcAft>
              <a:buSzPts val="2800"/>
              <a:buNone/>
            </a:pPr>
            <a:r>
              <a:rPr lang="en" sz="1400"/>
              <a:t>Presented by:</a:t>
            </a:r>
            <a:endParaRPr sz="1400"/>
          </a:p>
        </p:txBody>
      </p:sp>
      <p:sp>
        <p:nvSpPr>
          <p:cNvPr id="58" name="Google Shape;58;p1"/>
          <p:cNvSpPr txBox="1"/>
          <p:nvPr>
            <p:ph idx="1" type="subTitle"/>
          </p:nvPr>
        </p:nvSpPr>
        <p:spPr>
          <a:xfrm>
            <a:off x="311700" y="2083602"/>
            <a:ext cx="8520600" cy="6258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sz="2200">
                <a:solidFill>
                  <a:schemeClr val="accent1"/>
                </a:solidFill>
              </a:rPr>
              <a:t>Lulu Allen</a:t>
            </a:r>
            <a:endParaRPr sz="2200">
              <a:solidFill>
                <a:schemeClr val="accent1"/>
              </a:solidFill>
            </a:endParaRPr>
          </a:p>
        </p:txBody>
      </p:sp>
      <p:sp>
        <p:nvSpPr>
          <p:cNvPr id="59" name="Google Shape;59;p1"/>
          <p:cNvSpPr txBox="1"/>
          <p:nvPr>
            <p:ph idx="1" type="subTitle"/>
          </p:nvPr>
        </p:nvSpPr>
        <p:spPr>
          <a:xfrm>
            <a:off x="311700" y="3861435"/>
            <a:ext cx="8520600" cy="792600"/>
          </a:xfrm>
          <a:prstGeom prst="rect">
            <a:avLst/>
          </a:prstGeom>
          <a:noFill/>
          <a:ln>
            <a:noFill/>
          </a:ln>
        </p:spPr>
        <p:txBody>
          <a:bodyPr anchorCtr="0" anchor="t" bIns="91425" lIns="91425" spcFirstLastPara="1" rIns="91425" wrap="square" tIns="91425">
            <a:normAutofit lnSpcReduction="10000"/>
          </a:bodyPr>
          <a:lstStyle/>
          <a:p>
            <a:pPr indent="0" lvl="0" marL="0" rtl="0" algn="ctr">
              <a:lnSpc>
                <a:spcPct val="100000"/>
              </a:lnSpc>
              <a:spcBef>
                <a:spcPts val="0"/>
              </a:spcBef>
              <a:spcAft>
                <a:spcPts val="0"/>
              </a:spcAft>
              <a:buSzPts val="2800"/>
              <a:buNone/>
            </a:pPr>
            <a:r>
              <a:rPr lang="en" sz="1400">
                <a:solidFill>
                  <a:schemeClr val="dk1"/>
                </a:solidFill>
              </a:rPr>
              <a:t>CS 800 - Research Methods</a:t>
            </a:r>
            <a:endParaRPr sz="1400">
              <a:solidFill>
                <a:schemeClr val="dk1"/>
              </a:solidFill>
            </a:endParaRPr>
          </a:p>
          <a:p>
            <a:pPr indent="0" lvl="0" marL="0" rtl="0" algn="ctr">
              <a:lnSpc>
                <a:spcPct val="100000"/>
              </a:lnSpc>
              <a:spcBef>
                <a:spcPts val="0"/>
              </a:spcBef>
              <a:spcAft>
                <a:spcPts val="0"/>
              </a:spcAft>
              <a:buSzPts val="2800"/>
              <a:buNone/>
            </a:pPr>
            <a:r>
              <a:rPr lang="en" sz="1400">
                <a:solidFill>
                  <a:schemeClr val="dk1"/>
                </a:solidFill>
              </a:rPr>
              <a:t>Assignment 5</a:t>
            </a:r>
            <a:endParaRPr sz="1400">
              <a:solidFill>
                <a:schemeClr val="dk1"/>
              </a:solidFill>
            </a:endParaRPr>
          </a:p>
          <a:p>
            <a:pPr indent="0" lvl="0" marL="0" rtl="0" algn="ctr">
              <a:lnSpc>
                <a:spcPct val="100000"/>
              </a:lnSpc>
              <a:spcBef>
                <a:spcPts val="0"/>
              </a:spcBef>
              <a:spcAft>
                <a:spcPts val="0"/>
              </a:spcAft>
              <a:buSzPts val="2800"/>
              <a:buNone/>
            </a:pPr>
            <a:r>
              <a:rPr lang="en" sz="1400">
                <a:solidFill>
                  <a:schemeClr val="dk1"/>
                </a:solidFill>
              </a:rPr>
              <a:t>March 31, 2026</a:t>
            </a:r>
            <a:endParaRPr sz="1400">
              <a:solidFill>
                <a:schemeClr val="dk1"/>
              </a:solidFill>
            </a:endParaRPr>
          </a:p>
        </p:txBody>
      </p:sp>
      <p:sp>
        <p:nvSpPr>
          <p:cNvPr id="60" name="Google Shape;60;p1"/>
          <p:cNvSpPr txBox="1"/>
          <p:nvPr/>
        </p:nvSpPr>
        <p:spPr>
          <a:xfrm>
            <a:off x="2941650" y="3489449"/>
            <a:ext cx="3260700" cy="44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3"/>
              </a:rPr>
              <a:t>https://www.linkedin.com/in/lulu-allen/</a:t>
            </a:r>
            <a:endParaRPr b="0" i="0" sz="1400" u="none" cap="none" strike="noStrike">
              <a:solidFill>
                <a:schemeClr val="dk2"/>
              </a:solidFill>
              <a:latin typeface="Arial"/>
              <a:ea typeface="Arial"/>
              <a:cs typeface="Arial"/>
              <a:sym typeface="Arial"/>
            </a:endParaRPr>
          </a:p>
        </p:txBody>
      </p:sp>
      <p:sp>
        <p:nvSpPr>
          <p:cNvPr id="61" name="Google Shape;61;p1"/>
          <p:cNvSpPr txBox="1"/>
          <p:nvPr/>
        </p:nvSpPr>
        <p:spPr>
          <a:xfrm>
            <a:off x="1456800" y="2527648"/>
            <a:ext cx="6230400" cy="587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500"/>
              </a:spcBef>
              <a:spcAft>
                <a:spcPts val="0"/>
              </a:spcAft>
              <a:buClr>
                <a:srgbClr val="000000"/>
              </a:buClr>
              <a:buSzPts val="1100"/>
              <a:buFont typeface="Arial"/>
              <a:buNone/>
            </a:pPr>
            <a:r>
              <a:rPr b="0" i="0" lang="en" sz="1100" u="sng" cap="none" strike="noStrike">
                <a:solidFill>
                  <a:schemeClr val="dk1"/>
                </a:solidFill>
                <a:latin typeface="Arial"/>
                <a:ea typeface="Arial"/>
                <a:cs typeface="Arial"/>
                <a:sym typeface="Arial"/>
                <a:hlinkClick r:id="rId4">
                  <a:extLst>
                    <a:ext uri="{A12FA001-AC4F-418D-AE19-62706E023703}">
                      <ahyp:hlinkClr val="tx"/>
                    </a:ext>
                  </a:extLst>
                </a:hlinkClick>
              </a:rPr>
              <a:t>https://pubmed.ncbi.nlm.nih.gov/40534991/</a:t>
            </a:r>
            <a:endParaRPr b="0" i="0" sz="1100" u="none" cap="none" strike="noStrike">
              <a:solidFill>
                <a:schemeClr val="dk1"/>
              </a:solidFill>
              <a:latin typeface="Arial"/>
              <a:ea typeface="Arial"/>
              <a:cs typeface="Arial"/>
              <a:sym typeface="Arial"/>
            </a:endParaRPr>
          </a:p>
          <a:p>
            <a:pPr indent="0" lvl="0" marL="0" marR="0" rtl="0" algn="ctr">
              <a:lnSpc>
                <a:spcPct val="100000"/>
              </a:lnSpc>
              <a:spcBef>
                <a:spcPts val="500"/>
              </a:spcBef>
              <a:spcAft>
                <a:spcPts val="0"/>
              </a:spcAft>
              <a:buClr>
                <a:schemeClr val="dk1"/>
              </a:buClr>
              <a:buSzPts val="1100"/>
              <a:buFont typeface="Arial"/>
              <a:buNone/>
            </a:pPr>
            <a:r>
              <a:rPr b="0" i="0" lang="en" sz="1100" u="sng" cap="none" strike="noStrike">
                <a:solidFill>
                  <a:schemeClr val="dk1"/>
                </a:solidFill>
                <a:latin typeface="Arial"/>
                <a:ea typeface="Arial"/>
                <a:cs typeface="Arial"/>
                <a:sym typeface="Arial"/>
                <a:hlinkClick r:id="rId5">
                  <a:extLst>
                    <a:ext uri="{A12FA001-AC4F-418D-AE19-62706E023703}">
                      <ahyp:hlinkClr val="tx"/>
                    </a:ext>
                  </a:extLst>
                </a:hlinkClick>
              </a:rPr>
              <a:t>https://pubmed.ncbi.nlm.nih.gov/34022422/</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2" title="Screenshot_13-4-2026_151618_.jpeg"/>
          <p:cNvPicPr preferRelativeResize="0"/>
          <p:nvPr/>
        </p:nvPicPr>
        <p:blipFill rotWithShape="1">
          <a:blip r:embed="rId3">
            <a:alphaModFix/>
          </a:blip>
          <a:srcRect b="6341" l="515" r="505" t="0"/>
          <a:stretch/>
        </p:blipFill>
        <p:spPr>
          <a:xfrm>
            <a:off x="5041375" y="122475"/>
            <a:ext cx="3737374" cy="4531851"/>
          </a:xfrm>
          <a:prstGeom prst="rect">
            <a:avLst/>
          </a:prstGeom>
          <a:noFill/>
          <a:ln>
            <a:noFill/>
          </a:ln>
        </p:spPr>
      </p:pic>
      <p:pic>
        <p:nvPicPr>
          <p:cNvPr id="67" name="Google Shape;67;p2" title="Screenshot_5-4-2026_17119_.jpeg"/>
          <p:cNvPicPr preferRelativeResize="0"/>
          <p:nvPr/>
        </p:nvPicPr>
        <p:blipFill rotWithShape="1">
          <a:blip r:embed="rId4">
            <a:alphaModFix/>
          </a:blip>
          <a:srcRect b="6341" l="0" r="0" t="0"/>
          <a:stretch/>
        </p:blipFill>
        <p:spPr>
          <a:xfrm>
            <a:off x="492625" y="152400"/>
            <a:ext cx="3623324" cy="4531850"/>
          </a:xfrm>
          <a:prstGeom prst="rect">
            <a:avLst/>
          </a:prstGeom>
          <a:noFill/>
          <a:ln>
            <a:noFill/>
          </a:ln>
        </p:spPr>
      </p:pic>
      <p:sp>
        <p:nvSpPr>
          <p:cNvPr id="68" name="Google Shape;68;p2"/>
          <p:cNvSpPr txBox="1"/>
          <p:nvPr/>
        </p:nvSpPr>
        <p:spPr>
          <a:xfrm>
            <a:off x="5840050" y="2643777"/>
            <a:ext cx="2304000" cy="4617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lt1"/>
                </a:solidFill>
                <a:latin typeface="Arial"/>
                <a:ea typeface="Arial"/>
                <a:cs typeface="Arial"/>
                <a:sym typeface="Arial"/>
              </a:rPr>
              <a:t>Quantum Cyber</a:t>
            </a:r>
            <a:endParaRPr b="0" i="1" sz="1800" u="none" cap="none" strike="noStrike">
              <a:solidFill>
                <a:schemeClr val="lt1"/>
              </a:solidFill>
              <a:latin typeface="Arial"/>
              <a:ea typeface="Arial"/>
              <a:cs typeface="Arial"/>
              <a:sym typeface="Arial"/>
            </a:endParaRPr>
          </a:p>
        </p:txBody>
      </p:sp>
      <p:sp>
        <p:nvSpPr>
          <p:cNvPr id="69" name="Google Shape;69;p2"/>
          <p:cNvSpPr txBox="1"/>
          <p:nvPr/>
        </p:nvSpPr>
        <p:spPr>
          <a:xfrm>
            <a:off x="1152288" y="2643777"/>
            <a:ext cx="2304000" cy="461700"/>
          </a:xfrm>
          <a:prstGeom prst="rect">
            <a:avLst/>
          </a:prstGeom>
          <a:solidFill>
            <a:schemeClr val="accent1"/>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b="0" i="1" lang="en" sz="1800" u="none" cap="none" strike="noStrike">
                <a:solidFill>
                  <a:schemeClr val="lt1"/>
                </a:solidFill>
                <a:latin typeface="Arial"/>
                <a:ea typeface="Arial"/>
                <a:cs typeface="Arial"/>
                <a:sym typeface="Arial"/>
              </a:rPr>
              <a:t>AI Analysis</a:t>
            </a:r>
            <a:endParaRPr b="0" i="1"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Defining Genomic Data</a:t>
            </a:r>
            <a:endParaRPr sz="2220"/>
          </a:p>
        </p:txBody>
      </p:sp>
      <p:sp>
        <p:nvSpPr>
          <p:cNvPr id="75" name="Google Shape;7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 person's complete DNA makeup including genetic sequences, variations, functions, and biological traits </a:t>
            </a:r>
            <a:endParaRPr sz="1500">
              <a:solidFill>
                <a:schemeClr val="dk1"/>
              </a:solidFill>
            </a:endParaRPr>
          </a:p>
          <a:p>
            <a:pPr indent="0" lvl="0" marL="0" rtl="0" algn="l">
              <a:lnSpc>
                <a:spcPct val="115000"/>
              </a:lnSpc>
              <a:spcBef>
                <a:spcPts val="1200"/>
              </a:spcBef>
              <a:spcAft>
                <a:spcPts val="0"/>
              </a:spcAft>
              <a:buSzPts val="1800"/>
              <a:buNone/>
            </a:pPr>
            <a:r>
              <a:rPr lang="en" sz="1500">
                <a:solidFill>
                  <a:schemeClr val="dk1"/>
                </a:solidFill>
              </a:rPr>
              <a:t>Used for research, medical diagnosises, treatment, and hereditary conditions</a:t>
            </a:r>
            <a:endParaRPr sz="1500">
              <a:solidFill>
                <a:schemeClr val="dk1"/>
              </a:solidFill>
            </a:endParaRPr>
          </a:p>
          <a:p>
            <a:pPr indent="0" lvl="0" marL="0" rtl="0" algn="l">
              <a:lnSpc>
                <a:spcPct val="115000"/>
              </a:lnSpc>
              <a:spcBef>
                <a:spcPts val="1200"/>
              </a:spcBef>
              <a:spcAft>
                <a:spcPts val="1200"/>
              </a:spcAft>
              <a:buSzPts val="1800"/>
              <a:buNone/>
            </a:pPr>
            <a:r>
              <a:rPr lang="en" sz="1500">
                <a:solidFill>
                  <a:schemeClr val="dk1"/>
                </a:solidFill>
              </a:rPr>
              <a:t>Applies computational and statistical techniques to handle about 2 to 40 billion gigabytes of data annually </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 Overview of Genomic Data</a:t>
            </a:r>
            <a:endParaRPr sz="2220"/>
          </a:p>
        </p:txBody>
      </p:sp>
      <p:pic>
        <p:nvPicPr>
          <p:cNvPr id="81" name="Google Shape;81;p4" title="Screenshot_11-4-2026_19394_.jpeg"/>
          <p:cNvPicPr preferRelativeResize="0"/>
          <p:nvPr/>
        </p:nvPicPr>
        <p:blipFill rotWithShape="1">
          <a:blip r:embed="rId3">
            <a:alphaModFix/>
          </a:blip>
          <a:srcRect b="6968" l="0" r="0" t="0"/>
          <a:stretch/>
        </p:blipFill>
        <p:spPr>
          <a:xfrm>
            <a:off x="2552700" y="1150925"/>
            <a:ext cx="4038600" cy="3181250"/>
          </a:xfrm>
          <a:prstGeom prst="rect">
            <a:avLst/>
          </a:prstGeom>
          <a:noFill/>
          <a:ln>
            <a:noFill/>
          </a:ln>
        </p:spPr>
      </p:pic>
      <p:sp>
        <p:nvSpPr>
          <p:cNvPr id="82" name="Google Shape;82;p4"/>
          <p:cNvSpPr txBox="1"/>
          <p:nvPr>
            <p:ph idx="1" type="body"/>
          </p:nvPr>
        </p:nvSpPr>
        <p:spPr>
          <a:xfrm>
            <a:off x="426150" y="1150925"/>
            <a:ext cx="2421000" cy="3314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800">
                <a:solidFill>
                  <a:schemeClr val="dk1"/>
                </a:solidFill>
              </a:rPr>
              <a:t>Fig 2. Characteristics of DNA of Naveed et al., (2015) Genomic data is the permanent information contained one’s complete DNA, which attackers can access to re-identify individuals, trace ancestry, or potentially develop bioweapons based on the datasets.</a:t>
            </a:r>
            <a:endParaRPr sz="800">
              <a:solidFill>
                <a:schemeClr val="dk1"/>
              </a:solidFill>
            </a:endParaRPr>
          </a:p>
          <a:p>
            <a:pPr indent="0" lvl="0" marL="0" rtl="0" algn="l">
              <a:lnSpc>
                <a:spcPct val="115000"/>
              </a:lnSpc>
              <a:spcBef>
                <a:spcPts val="1200"/>
              </a:spcBef>
              <a:spcAft>
                <a:spcPts val="1200"/>
              </a:spcAft>
              <a:buSzPts val="1800"/>
              <a:buNone/>
            </a:pPr>
            <a:r>
              <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Genomic Data Management</a:t>
            </a:r>
            <a:endParaRPr sz="2220"/>
          </a:p>
        </p:txBody>
      </p:sp>
      <p:pic>
        <p:nvPicPr>
          <p:cNvPr id="88" name="Google Shape;88;p5" title="healthcare database.png"/>
          <p:cNvPicPr preferRelativeResize="0"/>
          <p:nvPr/>
        </p:nvPicPr>
        <p:blipFill rotWithShape="1">
          <a:blip r:embed="rId3">
            <a:alphaModFix/>
          </a:blip>
          <a:srcRect b="0" l="0" r="0" t="0"/>
          <a:stretch/>
        </p:blipFill>
        <p:spPr>
          <a:xfrm>
            <a:off x="1781464" y="1094725"/>
            <a:ext cx="5581076" cy="2954049"/>
          </a:xfrm>
          <a:prstGeom prst="rect">
            <a:avLst/>
          </a:prstGeom>
          <a:noFill/>
          <a:ln>
            <a:noFill/>
          </a:ln>
        </p:spPr>
      </p:pic>
      <p:sp>
        <p:nvSpPr>
          <p:cNvPr id="89" name="Google Shape;89;p5"/>
          <p:cNvSpPr txBox="1"/>
          <p:nvPr/>
        </p:nvSpPr>
        <p:spPr>
          <a:xfrm>
            <a:off x="918475" y="4225000"/>
            <a:ext cx="7302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Fig.</a:t>
            </a:r>
            <a:r>
              <a:rPr lang="en" sz="800">
                <a:solidFill>
                  <a:schemeClr val="dk1"/>
                </a:solidFill>
              </a:rPr>
              <a:t> 1</a:t>
            </a:r>
            <a:r>
              <a:rPr b="0" i="0" lang="en" sz="800" u="none" cap="none" strike="noStrike">
                <a:solidFill>
                  <a:schemeClr val="dk1"/>
                </a:solidFill>
                <a:latin typeface="Arial"/>
                <a:ea typeface="Arial"/>
                <a:cs typeface="Arial"/>
                <a:sym typeface="Arial"/>
              </a:rPr>
              <a:t> </a:t>
            </a:r>
            <a:r>
              <a:rPr lang="en" sz="800">
                <a:solidFill>
                  <a:schemeClr val="dk1"/>
                </a:solidFill>
              </a:rPr>
              <a:t>Privacy Resilience in Genomic Data by </a:t>
            </a:r>
            <a:r>
              <a:rPr b="0" i="0" lang="en" sz="800" u="none" cap="none" strike="noStrike">
                <a:solidFill>
                  <a:schemeClr val="dk1"/>
                </a:solidFill>
                <a:latin typeface="Arial"/>
                <a:ea typeface="Arial"/>
                <a:cs typeface="Arial"/>
                <a:sym typeface="Arial"/>
              </a:rPr>
              <a:t> Allen, L. (2026) By 2025. Over 26 million DNA records existed in 2019 and 1 billion genomes were projected  will be sequencedby Arshad et al. (2021). Consists of public genomic databases and cross-shared creating a significant threat pool for hackers.</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Analytical Frameworks</a:t>
            </a:r>
            <a:endParaRPr sz="2220"/>
          </a:p>
        </p:txBody>
      </p:sp>
      <p:sp>
        <p:nvSpPr>
          <p:cNvPr id="95" name="Google Shape;95;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SzPts val="1800"/>
              <a:buNone/>
            </a:pPr>
            <a:r>
              <a:rPr lang="en" sz="1500">
                <a:solidFill>
                  <a:schemeClr val="dk1"/>
                </a:solidFill>
              </a:rPr>
              <a:t>A notable gap between genetic data protection and regulations like HIPAA, GINA, and GDPR, which depend on organizational compliance rather than enforced technical standards</a:t>
            </a:r>
            <a:endParaRPr sz="1500">
              <a:solidFill>
                <a:schemeClr val="dk1"/>
              </a:solidFill>
            </a:endParaRPr>
          </a:p>
          <a:p>
            <a:pPr indent="0" lvl="0" marL="0" rtl="0" algn="l">
              <a:lnSpc>
                <a:spcPct val="90000"/>
              </a:lnSpc>
              <a:spcBef>
                <a:spcPts val="1000"/>
              </a:spcBef>
              <a:spcAft>
                <a:spcPts val="0"/>
              </a:spcAft>
              <a:buSzPts val="1800"/>
              <a:buNone/>
            </a:pPr>
            <a:r>
              <a:rPr lang="en" sz="1500">
                <a:solidFill>
                  <a:schemeClr val="dk1"/>
                </a:solidFill>
              </a:rPr>
              <a:t>A foundational system life cycle built upon vulnerability mapping as a core element</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Maps vulnerabilities including collection, sequencing, storage, analysis, and cross-institution sharing and analyze privacy risk during encryption, anonymization, and access control</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Analytical Insights</a:t>
            </a:r>
            <a:endParaRPr sz="2220"/>
          </a:p>
        </p:txBody>
      </p:sp>
      <p:sp>
        <p:nvSpPr>
          <p:cNvPr id="101" name="Google Shape;101;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1000"/>
              </a:spcBef>
              <a:spcAft>
                <a:spcPts val="0"/>
              </a:spcAft>
              <a:buClr>
                <a:schemeClr val="dk1"/>
              </a:buClr>
              <a:buSzPts val="1100"/>
              <a:buFont typeface="Arial"/>
              <a:buNone/>
            </a:pPr>
            <a:r>
              <a:rPr lang="en" sz="1500">
                <a:solidFill>
                  <a:schemeClr val="dk1"/>
                </a:solidFill>
              </a:rPr>
              <a:t>One breach can permanently expose generations of a family through uniquely identifying factors such as biological data and sharing of relatives without consent</a:t>
            </a:r>
            <a:endParaRPr sz="1500">
              <a:solidFill>
                <a:schemeClr val="dk1"/>
              </a:solidFill>
            </a:endParaRPr>
          </a:p>
          <a:p>
            <a:pPr indent="0" lvl="0" marL="0" rtl="0" algn="l">
              <a:lnSpc>
                <a:spcPct val="100000"/>
              </a:lnSpc>
              <a:spcBef>
                <a:spcPts val="1000"/>
              </a:spcBef>
              <a:spcAft>
                <a:spcPts val="0"/>
              </a:spcAft>
              <a:buSzPts val="1800"/>
              <a:buNone/>
            </a:pPr>
            <a:r>
              <a:rPr lang="en" sz="1500">
                <a:solidFill>
                  <a:schemeClr val="dk1"/>
                </a:solidFill>
              </a:rPr>
              <a:t>A person genome data cannot be changed compare to one’s stolen password or credit card numbers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Bioinformatics software developers prioritize scientific functionality over security, utilizing languages such as C and C++</a:t>
            </a:r>
            <a:endParaRPr sz="15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90000"/>
              </a:lnSpc>
              <a:spcBef>
                <a:spcPts val="1000"/>
              </a:spcBef>
              <a:spcAft>
                <a:spcPts val="0"/>
              </a:spcAft>
              <a:buClr>
                <a:schemeClr val="dk1"/>
              </a:buClr>
              <a:buSzPts val="1100"/>
              <a:buFont typeface="Arial"/>
              <a:buNone/>
            </a:pPr>
            <a:r>
              <a:rPr lang="en" sz="2200"/>
              <a:t>Analysis of Security and Privacy Challenges </a:t>
            </a:r>
            <a:endParaRPr sz="2200"/>
          </a:p>
        </p:txBody>
      </p:sp>
      <p:pic>
        <p:nvPicPr>
          <p:cNvPr id="107" name="Google Shape;107;p8" title="Analytical Insights Attacks.png"/>
          <p:cNvPicPr preferRelativeResize="0"/>
          <p:nvPr/>
        </p:nvPicPr>
        <p:blipFill rotWithShape="1">
          <a:blip r:embed="rId3">
            <a:alphaModFix/>
          </a:blip>
          <a:srcRect b="0" l="0" r="0" t="0"/>
          <a:stretch/>
        </p:blipFill>
        <p:spPr>
          <a:xfrm>
            <a:off x="564663" y="1152476"/>
            <a:ext cx="8014664" cy="3416400"/>
          </a:xfrm>
          <a:prstGeom prst="rect">
            <a:avLst/>
          </a:prstGeom>
          <a:noFill/>
          <a:ln>
            <a:noFill/>
          </a:ln>
        </p:spPr>
      </p:pic>
      <p:sp>
        <p:nvSpPr>
          <p:cNvPr id="108" name="Google Shape;108;p8"/>
          <p:cNvSpPr txBox="1"/>
          <p:nvPr>
            <p:ph idx="1" type="body"/>
          </p:nvPr>
        </p:nvSpPr>
        <p:spPr>
          <a:xfrm>
            <a:off x="311700" y="1152475"/>
            <a:ext cx="1800900" cy="3416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800"/>
              <a:buNone/>
            </a:pPr>
            <a:r>
              <a:rPr lang="en" sz="800">
                <a:solidFill>
                  <a:schemeClr val="dk1"/>
                </a:solidFill>
              </a:rPr>
              <a:t>Fig 2. </a:t>
            </a:r>
            <a:r>
              <a:rPr lang="en" sz="800">
                <a:solidFill>
                  <a:schemeClr val="dk1"/>
                </a:solidFill>
              </a:rPr>
              <a:t>Privacy Resilience in Genomic Data </a:t>
            </a:r>
            <a:r>
              <a:rPr lang="en" sz="800">
                <a:solidFill>
                  <a:schemeClr val="dk1"/>
                </a:solidFill>
              </a:rPr>
              <a:t>by Allen, L. (2026) </a:t>
            </a:r>
            <a:endParaRPr sz="800">
              <a:solidFill>
                <a:schemeClr val="dk1"/>
              </a:solidFill>
            </a:endParaRPr>
          </a:p>
          <a:p>
            <a:pPr indent="0" lvl="0" marL="0" rtl="0" algn="l">
              <a:lnSpc>
                <a:spcPct val="100000"/>
              </a:lnSpc>
              <a:spcBef>
                <a:spcPts val="1200"/>
              </a:spcBef>
              <a:spcAft>
                <a:spcPts val="1200"/>
              </a:spcAft>
              <a:buSzPts val="1800"/>
              <a:buNone/>
            </a:pPr>
            <a:r>
              <a:rPr lang="en" sz="800">
                <a:solidFill>
                  <a:schemeClr val="dk1"/>
                </a:solidFill>
              </a:rPr>
              <a:t>Static analysis of 25 open-source tools developed in C, C++, Java, Python, and PHP found six core vulnerability such as poor input validation, unsafe functions, weak authentication, HTTP/HTTPS, public genomic data, and unsafe command-line arguments.</a:t>
            </a:r>
            <a:endParaRPr sz="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Potential Threats of AI to Healthcare Systems</a:t>
            </a:r>
            <a:endParaRPr sz="2220"/>
          </a:p>
        </p:txBody>
      </p:sp>
      <p:sp>
        <p:nvSpPr>
          <p:cNvPr id="114" name="Google Shape;114;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Model inversion attacks involve adversaries querying AI diagnostic models to reverse engineer and reconstruct patients’ genetic data</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Adversarial ML manipulation involves delicate data that can mislead AI diagnostics risking patient safety and clinical decisions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Membership inference allows AI to identify information about the usage of an individual’s genomic data risking unauthorized disclosure of research patients</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Taxonomies </a:t>
            </a:r>
            <a:endParaRPr sz="2220"/>
          </a:p>
        </p:txBody>
      </p:sp>
      <p:sp>
        <p:nvSpPr>
          <p:cNvPr id="120" name="Google Shape;120;p10"/>
          <p:cNvSpPr txBox="1"/>
          <p:nvPr>
            <p:ph idx="1" type="body"/>
          </p:nvPr>
        </p:nvSpPr>
        <p:spPr>
          <a:xfrm>
            <a:off x="913363" y="3487675"/>
            <a:ext cx="7317300" cy="1081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770"/>
              <a:buNone/>
            </a:pPr>
            <a:r>
              <a:rPr lang="en" sz="800">
                <a:solidFill>
                  <a:schemeClr val="dk1"/>
                </a:solidFill>
              </a:rPr>
              <a:t>Fig. 7  Taxonomies Vulnerabilities of Biometric Tools  by Arshad et al., (2021) The genomic domain is vulnerable to ADAD (Attribute Disclosure Attacks using DNA), enabling attackers to access gene expression profiles to reconstruct full genomic profiles; obtain metadata like gender, birthdate, zip code, and surnames; and perform injection and buffer overflow attacks via HTTP/HTTPS on biological data.</a:t>
            </a:r>
            <a:endParaRPr sz="800">
              <a:solidFill>
                <a:schemeClr val="dk1"/>
              </a:solidFill>
            </a:endParaRPr>
          </a:p>
        </p:txBody>
      </p:sp>
      <p:pic>
        <p:nvPicPr>
          <p:cNvPr id="121" name="Google Shape;121;p10" title="Screenshot_11-4-2026_193550_.jpeg"/>
          <p:cNvPicPr preferRelativeResize="0"/>
          <p:nvPr/>
        </p:nvPicPr>
        <p:blipFill rotWithShape="1">
          <a:blip r:embed="rId3">
            <a:alphaModFix/>
          </a:blip>
          <a:srcRect b="18274" l="0" r="0" t="0"/>
          <a:stretch/>
        </p:blipFill>
        <p:spPr>
          <a:xfrm>
            <a:off x="375875" y="1240175"/>
            <a:ext cx="8392276" cy="1836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Limitations of AI Analysis</a:t>
            </a:r>
            <a:endParaRPr sz="2220"/>
          </a:p>
        </p:txBody>
      </p:sp>
      <p:sp>
        <p:nvSpPr>
          <p:cNvPr id="127" name="Google Shape;127;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SzPts val="1800"/>
              <a:buNone/>
            </a:pPr>
            <a:r>
              <a:rPr lang="en" sz="1500">
                <a:solidFill>
                  <a:schemeClr val="dk1"/>
                </a:solidFill>
              </a:rPr>
              <a:t>Perform static analysis not dynamic testing such as runtime testing, penetration testing, and execution of code to validate risks and encryption standards</a:t>
            </a:r>
            <a:endParaRPr sz="1500">
              <a:solidFill>
                <a:schemeClr val="dk1"/>
              </a:solidFill>
            </a:endParaRPr>
          </a:p>
          <a:p>
            <a:pPr indent="0" lvl="0" marL="0" rtl="0" algn="l">
              <a:lnSpc>
                <a:spcPct val="90000"/>
              </a:lnSpc>
              <a:spcBef>
                <a:spcPts val="1000"/>
              </a:spcBef>
              <a:spcAft>
                <a:spcPts val="0"/>
              </a:spcAft>
              <a:buSzPts val="1800"/>
              <a:buNone/>
            </a:pPr>
            <a:r>
              <a:rPr lang="en" sz="1500">
                <a:solidFill>
                  <a:schemeClr val="dk1"/>
                </a:solidFill>
              </a:rPr>
              <a:t>Projection of impact of vulnerabilities within security architectures in 2021 before the rise of AI and quantum in genomic platforms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Evidence of associated risks and threats remained insufficient and required further investigation which were later investigate in 2025 via Article 2 (Quantum Cyber)</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The Evolution of Threats</a:t>
            </a:r>
            <a:endParaRPr sz="2220"/>
          </a:p>
        </p:txBody>
      </p:sp>
      <p:sp>
        <p:nvSpPr>
          <p:cNvPr id="133" name="Google Shape;133;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4" name="Google Shape;134;p12" title="Picture1.png"/>
          <p:cNvPicPr preferRelativeResize="0"/>
          <p:nvPr/>
        </p:nvPicPr>
        <p:blipFill rotWithShape="1">
          <a:blip r:embed="rId3">
            <a:alphaModFix/>
          </a:blip>
          <a:srcRect b="41975" l="0" r="0" t="0"/>
          <a:stretch/>
        </p:blipFill>
        <p:spPr>
          <a:xfrm>
            <a:off x="269950" y="1152475"/>
            <a:ext cx="8604099" cy="1928274"/>
          </a:xfrm>
          <a:prstGeom prst="rect">
            <a:avLst/>
          </a:prstGeom>
          <a:noFill/>
          <a:ln>
            <a:noFill/>
          </a:ln>
        </p:spPr>
      </p:pic>
      <p:sp>
        <p:nvSpPr>
          <p:cNvPr id="135" name="Google Shape;135;p12"/>
          <p:cNvSpPr txBox="1"/>
          <p:nvPr/>
        </p:nvSpPr>
        <p:spPr>
          <a:xfrm>
            <a:off x="1685400" y="3215500"/>
            <a:ext cx="57732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Arial"/>
                <a:ea typeface="Arial"/>
                <a:cs typeface="Arial"/>
                <a:sym typeface="Arial"/>
              </a:rPr>
              <a:t>Fig.</a:t>
            </a:r>
            <a:r>
              <a:rPr lang="en" sz="800">
                <a:solidFill>
                  <a:schemeClr val="dk1"/>
                </a:solidFill>
              </a:rPr>
              <a:t> 3</a:t>
            </a:r>
            <a:r>
              <a:rPr b="0" i="0" lang="en" sz="800" u="none" cap="none" strike="noStrike">
                <a:solidFill>
                  <a:schemeClr val="dk1"/>
                </a:solidFill>
                <a:latin typeface="Arial"/>
                <a:ea typeface="Arial"/>
                <a:cs typeface="Arial"/>
                <a:sym typeface="Arial"/>
              </a:rPr>
              <a:t> </a:t>
            </a:r>
            <a:r>
              <a:rPr i="0" lang="en" sz="800" u="none" cap="none" strike="noStrike">
                <a:solidFill>
                  <a:schemeClr val="dk1"/>
                </a:solidFill>
              </a:rPr>
              <a:t>Privacy Resilience in Genomic Data </a:t>
            </a:r>
            <a:r>
              <a:rPr b="0" i="0" lang="en" sz="800" u="none" cap="none" strike="noStrike">
                <a:solidFill>
                  <a:schemeClr val="dk1"/>
                </a:solidFill>
                <a:latin typeface="Arial"/>
                <a:ea typeface="Arial"/>
                <a:cs typeface="Arial"/>
                <a:sym typeface="Arial"/>
              </a:rPr>
              <a:t>(Allen, 2026) details only 25 open-source tools being used for static analysis which examine the  software code without executing bioinformatics software employed in real-world clinical and commercial environment.</a:t>
            </a:r>
            <a:endParaRPr b="0" i="0" sz="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Approaches</a:t>
            </a:r>
            <a:endParaRPr sz="2220"/>
          </a:p>
        </p:txBody>
      </p:sp>
      <p:sp>
        <p:nvSpPr>
          <p:cNvPr id="141" name="Google Shape;141;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Article 2 “Genomic Privacy and Security in the Era of AI and Quantum” shifts from identity-based to authority-based access control limiting credential permissions, in relations to mapping of pre-AI analysis with post-quantum cryptography</a:t>
            </a:r>
            <a:endParaRPr sz="1500">
              <a:solidFill>
                <a:schemeClr val="dk1"/>
              </a:solidFill>
            </a:endParaRPr>
          </a:p>
          <a:p>
            <a:pPr indent="0" lvl="0" marL="0" rtl="0" algn="l">
              <a:lnSpc>
                <a:spcPct val="115000"/>
              </a:lnSpc>
              <a:spcBef>
                <a:spcPts val="1200"/>
              </a:spcBef>
              <a:spcAft>
                <a:spcPts val="0"/>
              </a:spcAft>
              <a:buSzPts val="1800"/>
              <a:buNone/>
            </a:pPr>
            <a:r>
              <a:rPr lang="en" sz="1500">
                <a:solidFill>
                  <a:schemeClr val="dk1"/>
                </a:solidFill>
              </a:rPr>
              <a:t>Incorporates Zero Trust Architecture (ZTA) mandates ongoing verification of each access request through cryptographic tokens, certificates, and authentication protocols</a:t>
            </a:r>
            <a:endParaRPr sz="1500">
              <a:solidFill>
                <a:schemeClr val="dk1"/>
              </a:solidFill>
            </a:endParaRPr>
          </a:p>
          <a:p>
            <a:pPr indent="0" lvl="0" marL="0" rtl="0" algn="l">
              <a:lnSpc>
                <a:spcPct val="115000"/>
              </a:lnSpc>
              <a:spcBef>
                <a:spcPts val="1200"/>
              </a:spcBef>
              <a:spcAft>
                <a:spcPts val="1200"/>
              </a:spcAft>
              <a:buSzPts val="1800"/>
              <a:buNone/>
            </a:pPr>
            <a:r>
              <a:t/>
            </a:r>
            <a:endParaRPr sz="1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type="title"/>
          </p:nvPr>
        </p:nvSpPr>
        <p:spPr>
          <a:xfrm>
            <a:off x="311700" y="378052"/>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220"/>
              <a:t>Security &amp; Ethical Concerns of Quantum </a:t>
            </a:r>
            <a:endParaRPr sz="2220"/>
          </a:p>
          <a:p>
            <a:pPr indent="0" lvl="0" marL="0" rtl="0" algn="ctr">
              <a:lnSpc>
                <a:spcPct val="100000"/>
              </a:lnSpc>
              <a:spcBef>
                <a:spcPts val="0"/>
              </a:spcBef>
              <a:spcAft>
                <a:spcPts val="0"/>
              </a:spcAft>
              <a:buSzPts val="990"/>
              <a:buNone/>
            </a:pPr>
            <a:r>
              <a:rPr lang="en" sz="2220"/>
              <a:t>in Healthcare Databases</a:t>
            </a:r>
            <a:endParaRPr sz="2220"/>
          </a:p>
        </p:txBody>
      </p:sp>
      <p:sp>
        <p:nvSpPr>
          <p:cNvPr id="147" name="Google Shape;147;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500">
                <a:solidFill>
                  <a:schemeClr val="dk1"/>
                </a:solidFill>
              </a:rPr>
              <a:t>Atatckers can steal encrypted genomic data via databases today, store them, and decrypt them once quantum computers mature</a:t>
            </a:r>
            <a:endParaRPr sz="15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sz="1500">
                <a:solidFill>
                  <a:schemeClr val="dk1"/>
                </a:solidFill>
              </a:rPr>
              <a:t>Shor's algorithm on a quantum computer can break RSA and elliptic curve cryptography used in HTTPS/TLS encryption to decrypt genetic data, targeting biological threats against specific groups (i.e. bioweapon)</a:t>
            </a:r>
            <a:endParaRPr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Cyberbiosecurity Measures</a:t>
            </a:r>
            <a:endParaRPr sz="2220"/>
          </a:p>
        </p:txBody>
      </p:sp>
      <p:pic>
        <p:nvPicPr>
          <p:cNvPr id="153" name="Google Shape;153;p15" title="Screenshot_11-4-2026_193426_.jpeg"/>
          <p:cNvPicPr preferRelativeResize="0"/>
          <p:nvPr/>
        </p:nvPicPr>
        <p:blipFill rotWithShape="1">
          <a:blip r:embed="rId3">
            <a:alphaModFix/>
          </a:blip>
          <a:srcRect b="0" l="0" r="0" t="0"/>
          <a:stretch/>
        </p:blipFill>
        <p:spPr>
          <a:xfrm>
            <a:off x="2078525" y="1217250"/>
            <a:ext cx="4986950" cy="3286850"/>
          </a:xfrm>
          <a:prstGeom prst="rect">
            <a:avLst/>
          </a:prstGeom>
          <a:noFill/>
          <a:ln>
            <a:noFill/>
          </a:ln>
        </p:spPr>
      </p:pic>
      <p:sp>
        <p:nvSpPr>
          <p:cNvPr id="154" name="Google Shape;154;p15"/>
          <p:cNvSpPr txBox="1"/>
          <p:nvPr>
            <p:ph idx="1" type="body"/>
          </p:nvPr>
        </p:nvSpPr>
        <p:spPr>
          <a:xfrm>
            <a:off x="311700" y="1152475"/>
            <a:ext cx="2137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800">
                <a:solidFill>
                  <a:schemeClr val="dk1"/>
                </a:solidFill>
              </a:rPr>
              <a:t>Fig. 1 Cyberbiosecurity by Arshad et al. (2021) Both technical fixes and cultural shifts among bioinformatic developers prioritizing security to prevent genomic exploits, improve privacy with cryptography, homomorphic encryption, and parameterized queries to minimize vulnerabilities.</a:t>
            </a:r>
            <a:endParaRPr sz="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990"/>
              <a:buNone/>
            </a:pPr>
            <a:r>
              <a:rPr lang="en" sz="2200"/>
              <a:t>Threat Landscape of Quantum in Healthcare</a:t>
            </a:r>
            <a:endParaRPr sz="2200"/>
          </a:p>
        </p:txBody>
      </p:sp>
      <p:sp>
        <p:nvSpPr>
          <p:cNvPr id="160" name="Google Shape;16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Genomic data has multiplied and shared across institutions creating interoperability vulnerabilities without a cross-chain governance to limit access control</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“Harvest now, decrypt later” tactic store encrypted healthcare data waiting for quantum computing to break current encryption and expose sensitive information</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Quantum Environment</a:t>
            </a:r>
            <a:endParaRPr sz="2220"/>
          </a:p>
        </p:txBody>
      </p:sp>
      <p:sp>
        <p:nvSpPr>
          <p:cNvPr id="166" name="Google Shape;166;p17"/>
          <p:cNvSpPr txBox="1"/>
          <p:nvPr>
            <p:ph idx="1" type="body"/>
          </p:nvPr>
        </p:nvSpPr>
        <p:spPr>
          <a:xfrm>
            <a:off x="903175" y="4042250"/>
            <a:ext cx="7319700" cy="572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n" sz="800">
                <a:solidFill>
                  <a:schemeClr val="dk1"/>
                </a:solidFill>
              </a:rPr>
              <a:t>Fig. 4 Privacy Resilience in Genomic Data (Allen, 2026) Quantum computers can re-identify records by combining genome fragments and AI-based phenotype predictions. Defend with CRYSTALS for key encapsulation and digital signatures along with Fully Homomorphic Encryption (FHE) measures based on lattice problems are more quantum-resistant than RSA encryption.</a:t>
            </a:r>
            <a:endParaRPr sz="800">
              <a:solidFill>
                <a:schemeClr val="dk1"/>
              </a:solidFill>
            </a:endParaRPr>
          </a:p>
        </p:txBody>
      </p:sp>
      <p:pic>
        <p:nvPicPr>
          <p:cNvPr id="167" name="Google Shape;167;p17" title="qunatum threat 2.png"/>
          <p:cNvPicPr preferRelativeResize="0"/>
          <p:nvPr/>
        </p:nvPicPr>
        <p:blipFill rotWithShape="1">
          <a:blip r:embed="rId3">
            <a:alphaModFix/>
          </a:blip>
          <a:srcRect b="583" l="0" r="0" t="593"/>
          <a:stretch/>
        </p:blipFill>
        <p:spPr>
          <a:xfrm>
            <a:off x="1014038" y="1166500"/>
            <a:ext cx="7115924" cy="2810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Solutions</a:t>
            </a:r>
            <a:endParaRPr sz="2220"/>
          </a:p>
        </p:txBody>
      </p:sp>
      <p:sp>
        <p:nvSpPr>
          <p:cNvPr id="173" name="Google Shape;17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Sequencer security guidelines mandate no long-term storage of session keys and require the use of post-quantum TLS 1.3, a hybrid key exchange</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Post-quantum cryptography standards include CRYSTALS-Kyber for key encapsulation, CRYSTALS-Dilithium for digital signatures, and SPHINCS+ as a hash-based backup</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Intrusion detection systems using genomic-specific behavioral baselines amongst all cross-shared institutions</a:t>
            </a:r>
            <a:endParaRPr sz="15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Cybersecurity Architecture</a:t>
            </a:r>
            <a:endParaRPr sz="2220"/>
          </a:p>
        </p:txBody>
      </p:sp>
      <p:sp>
        <p:nvSpPr>
          <p:cNvPr id="179" name="Google Shape;179;p19"/>
          <p:cNvSpPr txBox="1"/>
          <p:nvPr>
            <p:ph idx="1" type="body"/>
          </p:nvPr>
        </p:nvSpPr>
        <p:spPr>
          <a:xfrm>
            <a:off x="311700" y="1152475"/>
            <a:ext cx="1937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800">
                <a:solidFill>
                  <a:schemeClr val="dk1"/>
                </a:solidFill>
              </a:rPr>
              <a:t>Fig. 3 National MUD Architecture for a Sequencer by Annan et al., (2025) The Manufacturer Usage Description (MUD) secures sequencers like IoT devices by limiting communication, reducing attack surfaces and protecting against data exfiltration and firmware exploits to harvest data for later decryption.</a:t>
            </a:r>
            <a:endParaRPr sz="800">
              <a:solidFill>
                <a:schemeClr val="dk1"/>
              </a:solidFill>
            </a:endParaRPr>
          </a:p>
        </p:txBody>
      </p:sp>
      <p:pic>
        <p:nvPicPr>
          <p:cNvPr id="180" name="Google Shape;180;p19" title="Screenshot_11-4-2026_194026_.jpeg"/>
          <p:cNvPicPr preferRelativeResize="0"/>
          <p:nvPr/>
        </p:nvPicPr>
        <p:blipFill rotWithShape="1">
          <a:blip r:embed="rId3">
            <a:alphaModFix/>
          </a:blip>
          <a:srcRect b="5580" l="0" r="0" t="0"/>
          <a:stretch/>
        </p:blipFill>
        <p:spPr>
          <a:xfrm>
            <a:off x="2248700" y="1152475"/>
            <a:ext cx="4646775" cy="3225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0"/>
          <p:cNvSpPr txBox="1"/>
          <p:nvPr>
            <p:ph type="title"/>
          </p:nvPr>
        </p:nvSpPr>
        <p:spPr>
          <a:xfrm>
            <a:off x="311700" y="364658"/>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200"/>
              <a:t>The Relationship Between Analysis </a:t>
            </a:r>
            <a:endParaRPr sz="2200"/>
          </a:p>
          <a:p>
            <a:pPr indent="0" lvl="0" marL="0" rtl="0" algn="ctr">
              <a:lnSpc>
                <a:spcPct val="100000"/>
              </a:lnSpc>
              <a:spcBef>
                <a:spcPts val="0"/>
              </a:spcBef>
              <a:spcAft>
                <a:spcPts val="0"/>
              </a:spcAft>
              <a:buSzPts val="2800"/>
              <a:buNone/>
            </a:pPr>
            <a:r>
              <a:rPr lang="en" sz="2200"/>
              <a:t>and Cybersecurity Defense</a:t>
            </a:r>
            <a:endParaRPr sz="2200"/>
          </a:p>
        </p:txBody>
      </p:sp>
      <p:sp>
        <p:nvSpPr>
          <p:cNvPr id="186" name="Google Shape;186;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Article 1 established risks and vulnerabilities before AI entered healthcare platforms </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Article 2 reflect the impact and mapping of vulnerabilities along with testing incorporating quantum and cryptographic encryption</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Both articles demonstrate that genomic data vulnerabilities are real, well-documented, and lack adequate accountability and protection in existing systems</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990"/>
              <a:buNone/>
            </a:pPr>
            <a:r>
              <a:rPr lang="en" sz="2220"/>
              <a:t>References</a:t>
            </a:r>
            <a:endParaRPr sz="2220"/>
          </a:p>
        </p:txBody>
      </p:sp>
      <p:sp>
        <p:nvSpPr>
          <p:cNvPr id="192" name="Google Shape;19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Arshad, S., Arshad, J., Khan, M. M., Parkinson, S. "Analysis of Security and Privacy Challenges for DNA-Genomics Applications and Databases." Journal of Biomedical Informatics, vol. 119, 2021, p. 103815. ScienceDirect, doi:10.1016/j.jbi.2021.103815.</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Annan, R. K., Noland, J., Perkins, K.,  Xiaohong, Y., Kaushik, R., Qingge, L. "Genomic Privacy and Security in the Era of Artificial Intelligence and Quantum Computing." Discover Computing, vol. 28, 2025. Springer Nature, doi:10.1007/s10791-025-09627-w.</a:t>
            </a:r>
            <a:endParaRPr sz="1500">
              <a:solidFill>
                <a:schemeClr val="dk1"/>
              </a:solidFill>
            </a:endParaRPr>
          </a:p>
          <a:p>
            <a:pPr indent="0" lvl="0" marL="0" rtl="0" algn="l">
              <a:lnSpc>
                <a:spcPct val="90000"/>
              </a:lnSpc>
              <a:spcBef>
                <a:spcPts val="1000"/>
              </a:spcBef>
              <a:spcAft>
                <a:spcPts val="0"/>
              </a:spcAft>
              <a:buClr>
                <a:schemeClr val="dk1"/>
              </a:buClr>
              <a:buSzPts val="1100"/>
              <a:buFont typeface="Arial"/>
              <a:buNone/>
            </a:pPr>
            <a:r>
              <a:rPr lang="en" sz="1500">
                <a:solidFill>
                  <a:schemeClr val="dk1"/>
                </a:solidFill>
              </a:rPr>
              <a:t>Naveed M, Ayday E, Clayton EW, Fellay J, Gunter CA, Hubaux JP, Malin BA, Wang X (2015) Privacy in the Genomic Era. ACM Computer Survey 48(1). https://doi.org/10.1145/2767007 </a:t>
            </a:r>
            <a:endParaRPr sz="1500">
              <a:solidFill>
                <a:schemeClr val="dk1"/>
              </a:solidFill>
            </a:endParaRPr>
          </a:p>
          <a:p>
            <a:pPr indent="0" lvl="0" marL="0" rtl="0" algn="l">
              <a:lnSpc>
                <a:spcPct val="115000"/>
              </a:lnSpc>
              <a:spcBef>
                <a:spcPts val="0"/>
              </a:spcBef>
              <a:spcAft>
                <a:spcPts val="1200"/>
              </a:spcAft>
              <a:buSzPts val="1800"/>
              <a:buNone/>
            </a:pPr>
            <a:r>
              <a:t/>
            </a:r>
            <a:endParaRPr sz="15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