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27" roundtripDataSignature="AMtx7mgvpQa0YtIq91hKnSh5vKclI6CBB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7"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 name="Google Shape;5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 name="Google Shape;64;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 name="Google Shape;72;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 name="Google Shape;78;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 name="Google Shape;85;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 name="Google Shape;92;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 name="Google Shape;98;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 name="Google Shape;104;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 name="Google Shape;111;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7" name="Google Shape;117;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 name="Google Shape;124;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 name="Google Shape;130;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8" name="Google Shape;138;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4" name="Google Shape;144;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0" name="Google Shape;150;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 name="Google Shape;157;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 name="Google Shape;163;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 name="Google Shape;170;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6" name="Google Shape;176;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3" name="Google Shape;183;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9" name="Google Shape;189;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3"/>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3" name="Google Shape;13;p23"/>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4" name="Google Shape;14;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9" name="Google Shape;19;p2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0" name="Google Shape;20;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1" name="Shape 21"/>
        <p:cNvGrpSpPr/>
        <p:nvPr/>
      </p:nvGrpSpPr>
      <p:grpSpPr>
        <a:xfrm>
          <a:off x="0" y="0"/>
          <a:ext cx="0" cy="0"/>
          <a:chOff x="0" y="0"/>
          <a:chExt cx="0" cy="0"/>
        </a:xfrm>
      </p:grpSpPr>
      <p:sp>
        <p:nvSpPr>
          <p:cNvPr id="22" name="Google Shape;22;p2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3" name="Google Shape;23;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4" name="Shape 24"/>
        <p:cNvGrpSpPr/>
        <p:nvPr/>
      </p:nvGrpSpPr>
      <p:grpSpPr>
        <a:xfrm>
          <a:off x="0" y="0"/>
          <a:ext cx="0" cy="0"/>
          <a:chOff x="0" y="0"/>
          <a:chExt cx="0" cy="0"/>
        </a:xfrm>
      </p:grpSpPr>
      <p:sp>
        <p:nvSpPr>
          <p:cNvPr id="25" name="Google Shape;25;p27"/>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6" name="Google Shape;26;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7" name="Shape 27"/>
        <p:cNvGrpSpPr/>
        <p:nvPr/>
      </p:nvGrpSpPr>
      <p:grpSpPr>
        <a:xfrm>
          <a:off x="0" y="0"/>
          <a:ext cx="0" cy="0"/>
          <a:chOff x="0" y="0"/>
          <a:chExt cx="0" cy="0"/>
        </a:xfrm>
      </p:grpSpPr>
      <p:sp>
        <p:nvSpPr>
          <p:cNvPr id="28" name="Google Shape;28;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9" name="Google Shape;29;p28"/>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0" name="Google Shape;30;p28"/>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29"/>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4" name="Google Shape;34;p29"/>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5" name="Google Shape;35;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p30"/>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8" name="Google Shape;38;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3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31"/>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2" name="Google Shape;42;p31"/>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31"/>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4" name="Google Shape;44;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32"/>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7" name="Google Shape;47;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3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0" name="Google Shape;50;p3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1" name="Google Shape;51;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2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2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9" name="Google Shape;9;p22"/>
          <p:cNvSpPr txBox="1"/>
          <p:nvPr/>
        </p:nvSpPr>
        <p:spPr>
          <a:xfrm>
            <a:off x="311705" y="4663225"/>
            <a:ext cx="27504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1"/>
                </a:solidFill>
              </a:rPr>
              <a:t>CS 800 Research Methods</a:t>
            </a:r>
            <a:endParaRPr sz="1100">
              <a:solidFill>
                <a:schemeClr val="dk1"/>
              </a:solidFill>
            </a:endParaRPr>
          </a:p>
        </p:txBody>
      </p:sp>
      <p:sp>
        <p:nvSpPr>
          <p:cNvPr id="10" name="Google Shape;10;p22"/>
          <p:cNvSpPr txBox="1"/>
          <p:nvPr/>
        </p:nvSpPr>
        <p:spPr>
          <a:xfrm>
            <a:off x="5916875" y="4663225"/>
            <a:ext cx="2750400" cy="3936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100">
                <a:solidFill>
                  <a:schemeClr val="dk1"/>
                </a:solidFill>
              </a:rPr>
              <a:t>Spring 2026</a:t>
            </a:r>
            <a:endParaRPr sz="1100">
              <a:solidFill>
                <a:schemeClr val="dk1"/>
              </a:solidFil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www.linkedin.com/in/lulu-allen/" TargetMode="External"/><Relationship Id="rId4" Type="http://schemas.openxmlformats.org/officeDocument/2006/relationships/hyperlink" Target="https://pubmed.ncbi.nlm.nih.gov/40534991/" TargetMode="External"/><Relationship Id="rId5" Type="http://schemas.openxmlformats.org/officeDocument/2006/relationships/hyperlink" Target="https://pubmed.ncbi.nlm.nih.gov/34022422/"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9.jpg"/><Relationship Id="rId4"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7.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5.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
          <p:cNvSpPr txBox="1"/>
          <p:nvPr>
            <p:ph type="ctrTitle"/>
          </p:nvPr>
        </p:nvSpPr>
        <p:spPr>
          <a:xfrm>
            <a:off x="311700" y="744575"/>
            <a:ext cx="8520600" cy="13182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5200"/>
              <a:buNone/>
            </a:pPr>
            <a:r>
              <a:rPr b="1" lang="en" sz="2800"/>
              <a:t>Privacy Resilience in Genomic Data: </a:t>
            </a:r>
            <a:endParaRPr b="1" sz="2800"/>
          </a:p>
          <a:p>
            <a:pPr indent="0" lvl="0" marL="0" rtl="0" algn="ctr">
              <a:lnSpc>
                <a:spcPct val="100000"/>
              </a:lnSpc>
              <a:spcBef>
                <a:spcPts val="0"/>
              </a:spcBef>
              <a:spcAft>
                <a:spcPts val="0"/>
              </a:spcAft>
              <a:buSzPts val="5200"/>
              <a:buNone/>
            </a:pPr>
            <a:r>
              <a:rPr b="1" lang="en" sz="2800"/>
              <a:t>Analysis &amp; Cybersecurity Defense</a:t>
            </a:r>
            <a:endParaRPr b="1" sz="2800"/>
          </a:p>
        </p:txBody>
      </p:sp>
      <p:sp>
        <p:nvSpPr>
          <p:cNvPr id="57" name="Google Shape;57;p1"/>
          <p:cNvSpPr txBox="1"/>
          <p:nvPr>
            <p:ph idx="1" type="subTitle"/>
          </p:nvPr>
        </p:nvSpPr>
        <p:spPr>
          <a:xfrm>
            <a:off x="311700" y="1808493"/>
            <a:ext cx="8520600" cy="447600"/>
          </a:xfrm>
          <a:prstGeom prst="rect">
            <a:avLst/>
          </a:prstGeom>
          <a:noFill/>
          <a:ln>
            <a:noFill/>
          </a:ln>
        </p:spPr>
        <p:txBody>
          <a:bodyPr anchorCtr="0" anchor="t" bIns="91425" lIns="91425" spcFirstLastPara="1" rIns="91425" wrap="square" tIns="91425">
            <a:normAutofit/>
          </a:bodyPr>
          <a:lstStyle/>
          <a:p>
            <a:pPr indent="0" lvl="0" marL="0" rtl="0" algn="ctr">
              <a:lnSpc>
                <a:spcPct val="90000"/>
              </a:lnSpc>
              <a:spcBef>
                <a:spcPts val="0"/>
              </a:spcBef>
              <a:spcAft>
                <a:spcPts val="0"/>
              </a:spcAft>
              <a:buSzPts val="2800"/>
              <a:buNone/>
            </a:pPr>
            <a:r>
              <a:rPr lang="en" sz="1400"/>
              <a:t>Presented by:</a:t>
            </a:r>
            <a:endParaRPr sz="1400"/>
          </a:p>
        </p:txBody>
      </p:sp>
      <p:sp>
        <p:nvSpPr>
          <p:cNvPr id="58" name="Google Shape;58;p1"/>
          <p:cNvSpPr txBox="1"/>
          <p:nvPr>
            <p:ph idx="1" type="subTitle"/>
          </p:nvPr>
        </p:nvSpPr>
        <p:spPr>
          <a:xfrm>
            <a:off x="311700" y="2083602"/>
            <a:ext cx="8520600" cy="6258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rPr lang="en" sz="2200">
                <a:solidFill>
                  <a:schemeClr val="accent1"/>
                </a:solidFill>
              </a:rPr>
              <a:t>Lulu Allen</a:t>
            </a:r>
            <a:endParaRPr sz="2200">
              <a:solidFill>
                <a:schemeClr val="accent1"/>
              </a:solidFill>
            </a:endParaRPr>
          </a:p>
        </p:txBody>
      </p:sp>
      <p:sp>
        <p:nvSpPr>
          <p:cNvPr id="59" name="Google Shape;59;p1"/>
          <p:cNvSpPr txBox="1"/>
          <p:nvPr>
            <p:ph idx="1" type="subTitle"/>
          </p:nvPr>
        </p:nvSpPr>
        <p:spPr>
          <a:xfrm>
            <a:off x="311700" y="3861435"/>
            <a:ext cx="8520600" cy="792600"/>
          </a:xfrm>
          <a:prstGeom prst="rect">
            <a:avLst/>
          </a:prstGeom>
          <a:noFill/>
          <a:ln>
            <a:noFill/>
          </a:ln>
        </p:spPr>
        <p:txBody>
          <a:bodyPr anchorCtr="0" anchor="t" bIns="91425" lIns="91425" spcFirstLastPara="1" rIns="91425" wrap="square" tIns="91425">
            <a:normAutofit lnSpcReduction="10000"/>
          </a:bodyPr>
          <a:lstStyle/>
          <a:p>
            <a:pPr indent="0" lvl="0" marL="0" rtl="0" algn="ctr">
              <a:lnSpc>
                <a:spcPct val="100000"/>
              </a:lnSpc>
              <a:spcBef>
                <a:spcPts val="0"/>
              </a:spcBef>
              <a:spcAft>
                <a:spcPts val="0"/>
              </a:spcAft>
              <a:buSzPts val="2800"/>
              <a:buNone/>
            </a:pPr>
            <a:r>
              <a:rPr lang="en" sz="1400">
                <a:solidFill>
                  <a:schemeClr val="dk1"/>
                </a:solidFill>
              </a:rPr>
              <a:t>CS 800 - Research Methods</a:t>
            </a:r>
            <a:endParaRPr sz="1400">
              <a:solidFill>
                <a:schemeClr val="dk1"/>
              </a:solidFill>
            </a:endParaRPr>
          </a:p>
          <a:p>
            <a:pPr indent="0" lvl="0" marL="0" rtl="0" algn="ctr">
              <a:lnSpc>
                <a:spcPct val="100000"/>
              </a:lnSpc>
              <a:spcBef>
                <a:spcPts val="0"/>
              </a:spcBef>
              <a:spcAft>
                <a:spcPts val="0"/>
              </a:spcAft>
              <a:buSzPts val="2800"/>
              <a:buNone/>
            </a:pPr>
            <a:r>
              <a:rPr lang="en" sz="1400">
                <a:solidFill>
                  <a:schemeClr val="dk1"/>
                </a:solidFill>
              </a:rPr>
              <a:t>Assignment 5</a:t>
            </a:r>
            <a:endParaRPr sz="1400">
              <a:solidFill>
                <a:schemeClr val="dk1"/>
              </a:solidFill>
            </a:endParaRPr>
          </a:p>
          <a:p>
            <a:pPr indent="0" lvl="0" marL="0" rtl="0" algn="ctr">
              <a:lnSpc>
                <a:spcPct val="100000"/>
              </a:lnSpc>
              <a:spcBef>
                <a:spcPts val="0"/>
              </a:spcBef>
              <a:spcAft>
                <a:spcPts val="0"/>
              </a:spcAft>
              <a:buSzPts val="2800"/>
              <a:buNone/>
            </a:pPr>
            <a:r>
              <a:rPr lang="en" sz="1400">
                <a:solidFill>
                  <a:schemeClr val="dk1"/>
                </a:solidFill>
              </a:rPr>
              <a:t>March 31, 2026</a:t>
            </a:r>
            <a:endParaRPr sz="1400">
              <a:solidFill>
                <a:schemeClr val="dk1"/>
              </a:solidFill>
            </a:endParaRPr>
          </a:p>
        </p:txBody>
      </p:sp>
      <p:sp>
        <p:nvSpPr>
          <p:cNvPr id="60" name="Google Shape;60;p1"/>
          <p:cNvSpPr txBox="1"/>
          <p:nvPr/>
        </p:nvSpPr>
        <p:spPr>
          <a:xfrm>
            <a:off x="2941650" y="3489449"/>
            <a:ext cx="3260700" cy="44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3"/>
              </a:rPr>
              <a:t>https://www.linkedin.com/in/lulu-allen/</a:t>
            </a:r>
            <a:endParaRPr>
              <a:solidFill>
                <a:schemeClr val="dk2"/>
              </a:solidFill>
            </a:endParaRPr>
          </a:p>
        </p:txBody>
      </p:sp>
      <p:sp>
        <p:nvSpPr>
          <p:cNvPr id="61" name="Google Shape;61;p1"/>
          <p:cNvSpPr txBox="1"/>
          <p:nvPr/>
        </p:nvSpPr>
        <p:spPr>
          <a:xfrm>
            <a:off x="1456800" y="2527648"/>
            <a:ext cx="6230400" cy="5874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500"/>
              </a:spcBef>
              <a:spcAft>
                <a:spcPts val="0"/>
              </a:spcAft>
              <a:buNone/>
            </a:pPr>
            <a:r>
              <a:rPr lang="en" sz="1100" u="sng">
                <a:solidFill>
                  <a:schemeClr val="dk1"/>
                </a:solidFill>
                <a:hlinkClick r:id="rId4">
                  <a:extLst>
                    <a:ext uri="{A12FA001-AC4F-418D-AE19-62706E023703}">
                      <ahyp:hlinkClr val="tx"/>
                    </a:ext>
                  </a:extLst>
                </a:hlinkClick>
              </a:rPr>
              <a:t>https://pubmed.ncbi.nlm.nih.gov/40534991/</a:t>
            </a:r>
            <a:endParaRPr sz="1100">
              <a:solidFill>
                <a:schemeClr val="dk1"/>
              </a:solidFill>
            </a:endParaRPr>
          </a:p>
          <a:p>
            <a:pPr indent="0" lvl="0" marL="0" rtl="0" algn="ctr">
              <a:lnSpc>
                <a:spcPct val="100000"/>
              </a:lnSpc>
              <a:spcBef>
                <a:spcPts val="500"/>
              </a:spcBef>
              <a:spcAft>
                <a:spcPts val="0"/>
              </a:spcAft>
              <a:buClr>
                <a:schemeClr val="dk1"/>
              </a:buClr>
              <a:buSzPts val="1100"/>
              <a:buFont typeface="Arial"/>
              <a:buNone/>
            </a:pPr>
            <a:r>
              <a:rPr lang="en" sz="1100" u="sng">
                <a:solidFill>
                  <a:schemeClr val="dk1"/>
                </a:solidFill>
                <a:hlinkClick r:id="rId5">
                  <a:extLst>
                    <a:ext uri="{A12FA001-AC4F-418D-AE19-62706E023703}">
                      <ahyp:hlinkClr val="tx"/>
                    </a:ext>
                  </a:extLst>
                </a:hlinkClick>
              </a:rPr>
              <a:t>https://pubmed.ncbi.nlm.nih.gov/34022422/</a:t>
            </a:r>
            <a:endParaRPr sz="110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pic>
        <p:nvPicPr>
          <p:cNvPr id="66" name="Google Shape;66;p2" title="Screenshot_13-4-2026_151618_.jpeg"/>
          <p:cNvPicPr preferRelativeResize="0"/>
          <p:nvPr/>
        </p:nvPicPr>
        <p:blipFill rotWithShape="1">
          <a:blip r:embed="rId3">
            <a:alphaModFix/>
          </a:blip>
          <a:srcRect b="0" l="515" r="505" t="0"/>
          <a:stretch/>
        </p:blipFill>
        <p:spPr>
          <a:xfrm>
            <a:off x="5041375" y="0"/>
            <a:ext cx="3737372" cy="4838701"/>
          </a:xfrm>
          <a:prstGeom prst="rect">
            <a:avLst/>
          </a:prstGeom>
          <a:noFill/>
          <a:ln>
            <a:noFill/>
          </a:ln>
        </p:spPr>
      </p:pic>
      <p:pic>
        <p:nvPicPr>
          <p:cNvPr id="67" name="Google Shape;67;p2" title="Screenshot_5-4-2026_17119_.jpeg"/>
          <p:cNvPicPr preferRelativeResize="0"/>
          <p:nvPr/>
        </p:nvPicPr>
        <p:blipFill rotWithShape="1">
          <a:blip r:embed="rId4">
            <a:alphaModFix/>
          </a:blip>
          <a:srcRect b="0" l="0" r="0" t="0"/>
          <a:stretch/>
        </p:blipFill>
        <p:spPr>
          <a:xfrm>
            <a:off x="492623" y="152400"/>
            <a:ext cx="3623318" cy="4838699"/>
          </a:xfrm>
          <a:prstGeom prst="rect">
            <a:avLst/>
          </a:prstGeom>
          <a:noFill/>
          <a:ln>
            <a:noFill/>
          </a:ln>
        </p:spPr>
      </p:pic>
      <p:sp>
        <p:nvSpPr>
          <p:cNvPr id="68" name="Google Shape;68;p2"/>
          <p:cNvSpPr txBox="1"/>
          <p:nvPr/>
        </p:nvSpPr>
        <p:spPr>
          <a:xfrm>
            <a:off x="5840050" y="2643777"/>
            <a:ext cx="2304000" cy="461700"/>
          </a:xfrm>
          <a:prstGeom prst="rect">
            <a:avLst/>
          </a:prstGeom>
          <a:solidFill>
            <a:schemeClr val="accent1"/>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800"/>
              <a:buFont typeface="Arial"/>
              <a:buNone/>
            </a:pPr>
            <a:r>
              <a:rPr b="0" i="1" lang="en" sz="1800" u="none" cap="none" strike="noStrike">
                <a:solidFill>
                  <a:schemeClr val="lt1"/>
                </a:solidFill>
                <a:latin typeface="Arial"/>
                <a:ea typeface="Arial"/>
                <a:cs typeface="Arial"/>
                <a:sym typeface="Arial"/>
              </a:rPr>
              <a:t>Quantum Cyber</a:t>
            </a:r>
            <a:endParaRPr b="0" i="1" sz="1800" u="none" cap="none" strike="noStrike">
              <a:solidFill>
                <a:schemeClr val="lt1"/>
              </a:solidFill>
              <a:latin typeface="Arial"/>
              <a:ea typeface="Arial"/>
              <a:cs typeface="Arial"/>
              <a:sym typeface="Arial"/>
            </a:endParaRPr>
          </a:p>
        </p:txBody>
      </p:sp>
      <p:sp>
        <p:nvSpPr>
          <p:cNvPr id="69" name="Google Shape;69;p2"/>
          <p:cNvSpPr txBox="1"/>
          <p:nvPr/>
        </p:nvSpPr>
        <p:spPr>
          <a:xfrm>
            <a:off x="1152288" y="2643777"/>
            <a:ext cx="2304000" cy="461700"/>
          </a:xfrm>
          <a:prstGeom prst="rect">
            <a:avLst/>
          </a:prstGeom>
          <a:solidFill>
            <a:schemeClr val="accent1"/>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800"/>
              <a:buFont typeface="Arial"/>
              <a:buNone/>
            </a:pPr>
            <a:r>
              <a:rPr b="0" i="1" lang="en" sz="1800" u="none" cap="none" strike="noStrike">
                <a:solidFill>
                  <a:schemeClr val="lt1"/>
                </a:solidFill>
                <a:latin typeface="Arial"/>
                <a:ea typeface="Arial"/>
                <a:cs typeface="Arial"/>
                <a:sym typeface="Arial"/>
              </a:rPr>
              <a:t>AI Analysis</a:t>
            </a:r>
            <a:endParaRPr b="0" i="1" sz="1800" u="none" cap="none" strike="noStrike">
              <a:solidFill>
                <a:schemeClr val="lt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990"/>
              <a:buNone/>
            </a:pPr>
            <a:r>
              <a:rPr lang="en" sz="2220"/>
              <a:t>Defining Genomic Data</a:t>
            </a:r>
            <a:endParaRPr sz="2220"/>
          </a:p>
        </p:txBody>
      </p:sp>
      <p:sp>
        <p:nvSpPr>
          <p:cNvPr id="75" name="Google Shape;75;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sz="1500">
                <a:solidFill>
                  <a:schemeClr val="dk1"/>
                </a:solidFill>
              </a:rPr>
              <a:t>A person's complete DNA makeup including genetic sequences, variations, functions, and biological traits </a:t>
            </a:r>
            <a:endParaRPr sz="1500">
              <a:solidFill>
                <a:schemeClr val="dk1"/>
              </a:solidFill>
            </a:endParaRPr>
          </a:p>
          <a:p>
            <a:pPr indent="0" lvl="0" marL="0" rtl="0" algn="l">
              <a:lnSpc>
                <a:spcPct val="115000"/>
              </a:lnSpc>
              <a:spcBef>
                <a:spcPts val="1200"/>
              </a:spcBef>
              <a:spcAft>
                <a:spcPts val="0"/>
              </a:spcAft>
              <a:buSzPts val="1800"/>
              <a:buNone/>
            </a:pPr>
            <a:r>
              <a:rPr lang="en" sz="1500">
                <a:solidFill>
                  <a:schemeClr val="dk1"/>
                </a:solidFill>
              </a:rPr>
              <a:t>Used for research, medical diagnosises, treatment, and hereditary conditions</a:t>
            </a:r>
            <a:endParaRPr sz="1500">
              <a:solidFill>
                <a:schemeClr val="dk1"/>
              </a:solidFill>
            </a:endParaRPr>
          </a:p>
          <a:p>
            <a:pPr indent="0" lvl="0" marL="0" rtl="0" algn="l">
              <a:lnSpc>
                <a:spcPct val="115000"/>
              </a:lnSpc>
              <a:spcBef>
                <a:spcPts val="1200"/>
              </a:spcBef>
              <a:spcAft>
                <a:spcPts val="1200"/>
              </a:spcAft>
              <a:buSzPts val="1800"/>
              <a:buNone/>
            </a:pPr>
            <a:r>
              <a:rPr lang="en" sz="1500">
                <a:solidFill>
                  <a:schemeClr val="dk1"/>
                </a:solidFill>
              </a:rPr>
              <a:t>Applies computational and statistical techniques to handle about 2 to 40 billion gigabytes of data annually </a:t>
            </a:r>
            <a:endParaRPr sz="15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990"/>
              <a:buNone/>
            </a:pPr>
            <a:r>
              <a:rPr lang="en" sz="2220"/>
              <a:t>An Overview of Genomic Data</a:t>
            </a:r>
            <a:endParaRPr sz="2220"/>
          </a:p>
        </p:txBody>
      </p:sp>
      <p:pic>
        <p:nvPicPr>
          <p:cNvPr id="81" name="Google Shape;81;p4" title="Screenshot_11-4-2026_19394_.jpeg"/>
          <p:cNvPicPr preferRelativeResize="0"/>
          <p:nvPr/>
        </p:nvPicPr>
        <p:blipFill rotWithShape="1">
          <a:blip r:embed="rId3">
            <a:alphaModFix/>
          </a:blip>
          <a:srcRect b="6968" l="0" r="0" t="0"/>
          <a:stretch/>
        </p:blipFill>
        <p:spPr>
          <a:xfrm>
            <a:off x="2552700" y="1150925"/>
            <a:ext cx="4038600" cy="3181250"/>
          </a:xfrm>
          <a:prstGeom prst="rect">
            <a:avLst/>
          </a:prstGeom>
          <a:noFill/>
          <a:ln>
            <a:noFill/>
          </a:ln>
        </p:spPr>
      </p:pic>
      <p:sp>
        <p:nvSpPr>
          <p:cNvPr id="82" name="Google Shape;82;p4"/>
          <p:cNvSpPr txBox="1"/>
          <p:nvPr>
            <p:ph idx="1" type="body"/>
          </p:nvPr>
        </p:nvSpPr>
        <p:spPr>
          <a:xfrm>
            <a:off x="426150" y="1150925"/>
            <a:ext cx="2421000" cy="3314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sz="800">
                <a:solidFill>
                  <a:schemeClr val="dk1"/>
                </a:solidFill>
              </a:rPr>
              <a:t>Fig 1. Characteristics of DNA of </a:t>
            </a:r>
            <a:r>
              <a:rPr lang="en" sz="800">
                <a:solidFill>
                  <a:schemeClr val="dk1"/>
                </a:solidFill>
              </a:rPr>
              <a:t>Naveed </a:t>
            </a:r>
            <a:r>
              <a:rPr lang="en" sz="800">
                <a:solidFill>
                  <a:schemeClr val="dk1"/>
                </a:solidFill>
              </a:rPr>
              <a:t>et al., (2015) Genomic data is the permanent information contained one’s complete DNA, which attackers can access to re-identify individuals, trace ancestry, or potentially develop bioweapons based on the datasets.</a:t>
            </a:r>
            <a:endParaRPr sz="800">
              <a:solidFill>
                <a:schemeClr val="dk1"/>
              </a:solidFill>
            </a:endParaRPr>
          </a:p>
          <a:p>
            <a:pPr indent="0" lvl="0" marL="0" rtl="0" algn="l">
              <a:lnSpc>
                <a:spcPct val="115000"/>
              </a:lnSpc>
              <a:spcBef>
                <a:spcPts val="1200"/>
              </a:spcBef>
              <a:spcAft>
                <a:spcPts val="1200"/>
              </a:spcAft>
              <a:buSzPts val="1800"/>
              <a:buNone/>
            </a:pPr>
            <a:r>
              <a:t/>
            </a:r>
            <a:endParaRPr sz="8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990"/>
              <a:buNone/>
            </a:pPr>
            <a:r>
              <a:rPr lang="en" sz="2220"/>
              <a:t>Genomic Data Management</a:t>
            </a:r>
            <a:endParaRPr sz="2220"/>
          </a:p>
        </p:txBody>
      </p:sp>
      <p:pic>
        <p:nvPicPr>
          <p:cNvPr id="88" name="Google Shape;88;p5" title="healthcare database.png"/>
          <p:cNvPicPr preferRelativeResize="0"/>
          <p:nvPr/>
        </p:nvPicPr>
        <p:blipFill rotWithShape="1">
          <a:blip r:embed="rId3">
            <a:alphaModFix/>
          </a:blip>
          <a:srcRect b="0" l="0" r="0" t="0"/>
          <a:stretch/>
        </p:blipFill>
        <p:spPr>
          <a:xfrm>
            <a:off x="1781464" y="1094725"/>
            <a:ext cx="5581076" cy="2954049"/>
          </a:xfrm>
          <a:prstGeom prst="rect">
            <a:avLst/>
          </a:prstGeom>
          <a:noFill/>
          <a:ln>
            <a:noFill/>
          </a:ln>
        </p:spPr>
      </p:pic>
      <p:sp>
        <p:nvSpPr>
          <p:cNvPr id="89" name="Google Shape;89;p5"/>
          <p:cNvSpPr txBox="1"/>
          <p:nvPr/>
        </p:nvSpPr>
        <p:spPr>
          <a:xfrm>
            <a:off x="918475" y="4225000"/>
            <a:ext cx="73020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chemeClr val="dk1"/>
                </a:solidFill>
                <a:latin typeface="Arial"/>
                <a:ea typeface="Arial"/>
                <a:cs typeface="Arial"/>
                <a:sym typeface="Arial"/>
              </a:rPr>
              <a:t>Fig. 2 Genomic Data Management via Allen, L. (2026) By 2025. Over 26 million DNA records existed in 2019 and 1 billion genomes were projected  will be sequencedby Arshad et al. (2021). Consists of public genomic databases and cross-shared creating a significant threat pool for hackers.</a:t>
            </a:r>
            <a:endParaRPr b="0" i="0" sz="800" u="none" cap="none" strike="noStrike">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990"/>
              <a:buNone/>
            </a:pPr>
            <a:r>
              <a:rPr lang="en" sz="2220"/>
              <a:t>Analytical Frameworks</a:t>
            </a:r>
            <a:endParaRPr sz="2220"/>
          </a:p>
        </p:txBody>
      </p:sp>
      <p:sp>
        <p:nvSpPr>
          <p:cNvPr id="95" name="Google Shape;95;p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90000"/>
              </a:lnSpc>
              <a:spcBef>
                <a:spcPts val="1000"/>
              </a:spcBef>
              <a:spcAft>
                <a:spcPts val="0"/>
              </a:spcAft>
              <a:buSzPts val="1800"/>
              <a:buNone/>
            </a:pPr>
            <a:r>
              <a:rPr lang="en" sz="1500">
                <a:solidFill>
                  <a:schemeClr val="dk1"/>
                </a:solidFill>
              </a:rPr>
              <a:t>A notable gap between genetic data protection and regulations like HIPAA, GINA, and GDPR, which depend on organizational compliance rather than enforced technical standards</a:t>
            </a:r>
            <a:endParaRPr sz="1500">
              <a:solidFill>
                <a:schemeClr val="dk1"/>
              </a:solidFill>
            </a:endParaRPr>
          </a:p>
          <a:p>
            <a:pPr indent="0" lvl="0" marL="0" rtl="0" algn="l">
              <a:lnSpc>
                <a:spcPct val="90000"/>
              </a:lnSpc>
              <a:spcBef>
                <a:spcPts val="1000"/>
              </a:spcBef>
              <a:spcAft>
                <a:spcPts val="0"/>
              </a:spcAft>
              <a:buSzPts val="1800"/>
              <a:buNone/>
            </a:pPr>
            <a:r>
              <a:rPr lang="en" sz="1500">
                <a:solidFill>
                  <a:schemeClr val="dk1"/>
                </a:solidFill>
              </a:rPr>
              <a:t>A foundational system life cycle built upon vulnerability mapping as a core element</a:t>
            </a:r>
            <a:endParaRPr sz="1500">
              <a:solidFill>
                <a:schemeClr val="dk1"/>
              </a:solidFill>
            </a:endParaRPr>
          </a:p>
          <a:p>
            <a:pPr indent="0" lvl="0" marL="0" rtl="0" algn="l">
              <a:lnSpc>
                <a:spcPct val="90000"/>
              </a:lnSpc>
              <a:spcBef>
                <a:spcPts val="1000"/>
              </a:spcBef>
              <a:spcAft>
                <a:spcPts val="0"/>
              </a:spcAft>
              <a:buClr>
                <a:schemeClr val="dk1"/>
              </a:buClr>
              <a:buSzPts val="1100"/>
              <a:buFont typeface="Arial"/>
              <a:buNone/>
            </a:pPr>
            <a:r>
              <a:rPr lang="en" sz="1500">
                <a:solidFill>
                  <a:schemeClr val="dk1"/>
                </a:solidFill>
              </a:rPr>
              <a:t>Maps vulnerabilities including collection, sequencing, storage, analysis, and cross-institution sharing and analyze privacy risk during encryption, anonymization, and access control</a:t>
            </a:r>
            <a:endParaRPr sz="1500">
              <a:solidFill>
                <a:schemeClr val="dk1"/>
              </a:solidFill>
            </a:endParaRPr>
          </a:p>
          <a:p>
            <a:pPr indent="0" lvl="0" marL="0" rtl="0" algn="l">
              <a:lnSpc>
                <a:spcPct val="115000"/>
              </a:lnSpc>
              <a:spcBef>
                <a:spcPts val="0"/>
              </a:spcBef>
              <a:spcAft>
                <a:spcPts val="1200"/>
              </a:spcAft>
              <a:buSzPts val="1800"/>
              <a:buNone/>
            </a:pPr>
            <a:r>
              <a:t/>
            </a:r>
            <a:endParaRPr sz="15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990"/>
              <a:buNone/>
            </a:pPr>
            <a:r>
              <a:rPr lang="en" sz="2220"/>
              <a:t>Analytical Insights</a:t>
            </a:r>
            <a:endParaRPr sz="2220"/>
          </a:p>
        </p:txBody>
      </p:sp>
      <p:sp>
        <p:nvSpPr>
          <p:cNvPr id="101" name="Google Shape;101;p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1000"/>
              </a:spcBef>
              <a:spcAft>
                <a:spcPts val="0"/>
              </a:spcAft>
              <a:buClr>
                <a:schemeClr val="dk1"/>
              </a:buClr>
              <a:buSzPts val="1100"/>
              <a:buFont typeface="Arial"/>
              <a:buNone/>
            </a:pPr>
            <a:r>
              <a:rPr lang="en" sz="1500">
                <a:solidFill>
                  <a:schemeClr val="dk1"/>
                </a:solidFill>
              </a:rPr>
              <a:t>One breach can permanently expose generations of a family through uniquely identifying factors such as biological data and sharing of relatives without consent</a:t>
            </a:r>
            <a:endParaRPr sz="1500">
              <a:solidFill>
                <a:schemeClr val="dk1"/>
              </a:solidFill>
            </a:endParaRPr>
          </a:p>
          <a:p>
            <a:pPr indent="0" lvl="0" marL="0" rtl="0" algn="l">
              <a:lnSpc>
                <a:spcPct val="100000"/>
              </a:lnSpc>
              <a:spcBef>
                <a:spcPts val="1000"/>
              </a:spcBef>
              <a:spcAft>
                <a:spcPts val="0"/>
              </a:spcAft>
              <a:buSzPts val="1800"/>
              <a:buNone/>
            </a:pPr>
            <a:r>
              <a:rPr lang="en" sz="1500">
                <a:solidFill>
                  <a:schemeClr val="dk1"/>
                </a:solidFill>
              </a:rPr>
              <a:t>A person genome data cannot be changed compare to one’s stolen password or credit card numbers</a:t>
            </a:r>
            <a:endParaRPr sz="1500">
              <a:solidFill>
                <a:schemeClr val="dk1"/>
              </a:solidFill>
            </a:endParaRPr>
          </a:p>
          <a:p>
            <a:pPr indent="0" lvl="0" marL="0" rtl="0" algn="l">
              <a:lnSpc>
                <a:spcPct val="90000"/>
              </a:lnSpc>
              <a:spcBef>
                <a:spcPts val="1000"/>
              </a:spcBef>
              <a:spcAft>
                <a:spcPts val="0"/>
              </a:spcAft>
              <a:buClr>
                <a:schemeClr val="dk1"/>
              </a:buClr>
              <a:buSzPts val="1100"/>
              <a:buFont typeface="Arial"/>
              <a:buNone/>
            </a:pPr>
            <a:r>
              <a:rPr lang="en" sz="1500">
                <a:solidFill>
                  <a:schemeClr val="dk1"/>
                </a:solidFill>
              </a:rPr>
              <a:t>Bioinformatics software developers prioritize scientific functionality over security, utilizing languages such as C and C++</a:t>
            </a:r>
            <a:endParaRPr sz="15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ctr">
              <a:lnSpc>
                <a:spcPct val="90000"/>
              </a:lnSpc>
              <a:spcBef>
                <a:spcPts val="1000"/>
              </a:spcBef>
              <a:spcAft>
                <a:spcPts val="0"/>
              </a:spcAft>
              <a:buClr>
                <a:schemeClr val="dk1"/>
              </a:buClr>
              <a:buSzPts val="1100"/>
              <a:buFont typeface="Arial"/>
              <a:buNone/>
            </a:pPr>
            <a:r>
              <a:rPr lang="en" sz="2200"/>
              <a:t>Analysis of Security and Privacy Challenges </a:t>
            </a:r>
            <a:endParaRPr sz="2200"/>
          </a:p>
        </p:txBody>
      </p:sp>
      <p:pic>
        <p:nvPicPr>
          <p:cNvPr id="107" name="Google Shape;107;p8" title="Analytical Insights Attacks.png"/>
          <p:cNvPicPr preferRelativeResize="0"/>
          <p:nvPr/>
        </p:nvPicPr>
        <p:blipFill rotWithShape="1">
          <a:blip r:embed="rId3">
            <a:alphaModFix/>
          </a:blip>
          <a:srcRect b="0" l="0" r="0" t="0"/>
          <a:stretch/>
        </p:blipFill>
        <p:spPr>
          <a:xfrm>
            <a:off x="564663" y="1152476"/>
            <a:ext cx="8014664" cy="3416400"/>
          </a:xfrm>
          <a:prstGeom prst="rect">
            <a:avLst/>
          </a:prstGeom>
          <a:noFill/>
          <a:ln>
            <a:noFill/>
          </a:ln>
        </p:spPr>
      </p:pic>
      <p:sp>
        <p:nvSpPr>
          <p:cNvPr id="108" name="Google Shape;108;p8"/>
          <p:cNvSpPr txBox="1"/>
          <p:nvPr>
            <p:ph idx="1" type="body"/>
          </p:nvPr>
        </p:nvSpPr>
        <p:spPr>
          <a:xfrm>
            <a:off x="311700" y="1152475"/>
            <a:ext cx="1800900" cy="3416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800"/>
              <a:buNone/>
            </a:pPr>
            <a:r>
              <a:rPr lang="en" sz="800">
                <a:solidFill>
                  <a:schemeClr val="dk1"/>
                </a:solidFill>
              </a:rPr>
              <a:t>Fig 3. Analysis of Security and Privacy Challenges by Allen, L. (2026) </a:t>
            </a:r>
            <a:endParaRPr sz="800">
              <a:solidFill>
                <a:schemeClr val="dk1"/>
              </a:solidFill>
            </a:endParaRPr>
          </a:p>
          <a:p>
            <a:pPr indent="0" lvl="0" marL="0" rtl="0" algn="l">
              <a:lnSpc>
                <a:spcPct val="100000"/>
              </a:lnSpc>
              <a:spcBef>
                <a:spcPts val="1200"/>
              </a:spcBef>
              <a:spcAft>
                <a:spcPts val="1200"/>
              </a:spcAft>
              <a:buSzPts val="1800"/>
              <a:buNone/>
            </a:pPr>
            <a:r>
              <a:rPr lang="en" sz="800">
                <a:solidFill>
                  <a:schemeClr val="dk1"/>
                </a:solidFill>
              </a:rPr>
              <a:t>Static analysis of 25 open-source tools developed in C, C++, Java, Python, and PHP found six core vulnerability such as poor input validation, unsafe functions, weak authentication, HTTP/HTTPS, public genomic data, and unsafe command-line arguments.</a:t>
            </a:r>
            <a:endParaRPr sz="8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990"/>
              <a:buNone/>
            </a:pPr>
            <a:r>
              <a:rPr lang="en" sz="2220"/>
              <a:t>Potential Threats of AI to Healthcare Systems</a:t>
            </a:r>
            <a:endParaRPr sz="2220"/>
          </a:p>
        </p:txBody>
      </p:sp>
      <p:sp>
        <p:nvSpPr>
          <p:cNvPr id="114" name="Google Shape;114;p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90000"/>
              </a:lnSpc>
              <a:spcBef>
                <a:spcPts val="1000"/>
              </a:spcBef>
              <a:spcAft>
                <a:spcPts val="0"/>
              </a:spcAft>
              <a:buClr>
                <a:schemeClr val="dk1"/>
              </a:buClr>
              <a:buSzPts val="1100"/>
              <a:buFont typeface="Arial"/>
              <a:buNone/>
            </a:pPr>
            <a:r>
              <a:rPr lang="en" sz="1500">
                <a:solidFill>
                  <a:schemeClr val="dk1"/>
                </a:solidFill>
              </a:rPr>
              <a:t>Model inversion attacks involve adversaries querying AI diagnostic models to reverse engineer and reconstruct patients’ genetic data</a:t>
            </a:r>
            <a:endParaRPr sz="1500">
              <a:solidFill>
                <a:schemeClr val="dk1"/>
              </a:solidFill>
            </a:endParaRPr>
          </a:p>
          <a:p>
            <a:pPr indent="0" lvl="0" marL="0" rtl="0" algn="l">
              <a:lnSpc>
                <a:spcPct val="90000"/>
              </a:lnSpc>
              <a:spcBef>
                <a:spcPts val="1000"/>
              </a:spcBef>
              <a:spcAft>
                <a:spcPts val="0"/>
              </a:spcAft>
              <a:buClr>
                <a:schemeClr val="dk1"/>
              </a:buClr>
              <a:buSzPts val="1100"/>
              <a:buFont typeface="Arial"/>
              <a:buNone/>
            </a:pPr>
            <a:r>
              <a:rPr lang="en" sz="1500">
                <a:solidFill>
                  <a:schemeClr val="dk1"/>
                </a:solidFill>
              </a:rPr>
              <a:t>Adversarial ML manipulation involves delicate data that can mislead AI diagnostics risking patient safety and clinical decisions</a:t>
            </a:r>
            <a:endParaRPr sz="1500">
              <a:solidFill>
                <a:schemeClr val="dk1"/>
              </a:solidFill>
            </a:endParaRPr>
          </a:p>
          <a:p>
            <a:pPr indent="0" lvl="0" marL="0" rtl="0" algn="l">
              <a:lnSpc>
                <a:spcPct val="90000"/>
              </a:lnSpc>
              <a:spcBef>
                <a:spcPts val="1000"/>
              </a:spcBef>
              <a:spcAft>
                <a:spcPts val="0"/>
              </a:spcAft>
              <a:buClr>
                <a:schemeClr val="dk1"/>
              </a:buClr>
              <a:buSzPts val="1100"/>
              <a:buFont typeface="Arial"/>
              <a:buNone/>
            </a:pPr>
            <a:r>
              <a:rPr lang="en" sz="1500">
                <a:solidFill>
                  <a:schemeClr val="dk1"/>
                </a:solidFill>
              </a:rPr>
              <a:t>Membership inference allows AI to identify information about the usage of an individual’s genomic data risking unauthorized disclosure of research patients</a:t>
            </a:r>
            <a:endParaRPr sz="1500">
              <a:solidFill>
                <a:schemeClr val="dk1"/>
              </a:solidFill>
            </a:endParaRPr>
          </a:p>
          <a:p>
            <a:pPr indent="0" lvl="0" marL="0" rtl="0" algn="l">
              <a:lnSpc>
                <a:spcPct val="115000"/>
              </a:lnSpc>
              <a:spcBef>
                <a:spcPts val="0"/>
              </a:spcBef>
              <a:spcAft>
                <a:spcPts val="1200"/>
              </a:spcAft>
              <a:buSzPts val="1800"/>
              <a:buNone/>
            </a:pPr>
            <a:r>
              <a:t/>
            </a:r>
            <a:endParaRPr sz="15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990"/>
              <a:buNone/>
            </a:pPr>
            <a:r>
              <a:rPr lang="en" sz="2220"/>
              <a:t>Taxonomies </a:t>
            </a:r>
            <a:endParaRPr sz="2220"/>
          </a:p>
        </p:txBody>
      </p:sp>
      <p:sp>
        <p:nvSpPr>
          <p:cNvPr id="120" name="Google Shape;120;p10"/>
          <p:cNvSpPr txBox="1"/>
          <p:nvPr>
            <p:ph idx="1" type="body"/>
          </p:nvPr>
        </p:nvSpPr>
        <p:spPr>
          <a:xfrm>
            <a:off x="913363" y="3487675"/>
            <a:ext cx="7317300" cy="1081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770"/>
              <a:buNone/>
            </a:pPr>
            <a:r>
              <a:rPr lang="en" sz="800">
                <a:solidFill>
                  <a:schemeClr val="dk1"/>
                </a:solidFill>
              </a:rPr>
              <a:t>Fig. 4 Taxonomies Vulnerabilities of Biometric Tools  by Arshad et al., (2021) The genomic domain is vulnerable to ADAD (Attribute Disclosure Attacks using DNA), enabling attackers to access gene expression profiles to reconstruct full genomic profiles; obtain metadata like gender, birthdate, zip code, and surnames; and perform injection and buffer overflow attacks via HTTP/HTTPS on biological data.</a:t>
            </a:r>
            <a:endParaRPr sz="800">
              <a:solidFill>
                <a:schemeClr val="dk1"/>
              </a:solidFill>
            </a:endParaRPr>
          </a:p>
        </p:txBody>
      </p:sp>
      <p:pic>
        <p:nvPicPr>
          <p:cNvPr id="121" name="Google Shape;121;p10" title="Screenshot_11-4-2026_193550_.jpeg"/>
          <p:cNvPicPr preferRelativeResize="0"/>
          <p:nvPr/>
        </p:nvPicPr>
        <p:blipFill rotWithShape="1">
          <a:blip r:embed="rId3">
            <a:alphaModFix/>
          </a:blip>
          <a:srcRect b="18274" l="0" r="0" t="0"/>
          <a:stretch/>
        </p:blipFill>
        <p:spPr>
          <a:xfrm>
            <a:off x="375875" y="1240175"/>
            <a:ext cx="8392276" cy="18367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990"/>
              <a:buNone/>
            </a:pPr>
            <a:r>
              <a:rPr lang="en" sz="2220"/>
              <a:t>Limitations of AI Analysis</a:t>
            </a:r>
            <a:endParaRPr sz="2220"/>
          </a:p>
        </p:txBody>
      </p:sp>
      <p:sp>
        <p:nvSpPr>
          <p:cNvPr id="127" name="Google Shape;127;p1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90000"/>
              </a:lnSpc>
              <a:spcBef>
                <a:spcPts val="1000"/>
              </a:spcBef>
              <a:spcAft>
                <a:spcPts val="0"/>
              </a:spcAft>
              <a:buSzPts val="1800"/>
              <a:buNone/>
            </a:pPr>
            <a:r>
              <a:rPr lang="en" sz="1500">
                <a:solidFill>
                  <a:schemeClr val="dk1"/>
                </a:solidFill>
              </a:rPr>
              <a:t>Perform static analysis not dynamic testing such as runtime testing, penetration testing, and execution of code to validate risks and encryption standards</a:t>
            </a:r>
            <a:endParaRPr sz="1500">
              <a:solidFill>
                <a:schemeClr val="dk1"/>
              </a:solidFill>
            </a:endParaRPr>
          </a:p>
          <a:p>
            <a:pPr indent="0" lvl="0" marL="0" rtl="0" algn="l">
              <a:lnSpc>
                <a:spcPct val="90000"/>
              </a:lnSpc>
              <a:spcBef>
                <a:spcPts val="1000"/>
              </a:spcBef>
              <a:spcAft>
                <a:spcPts val="0"/>
              </a:spcAft>
              <a:buSzPts val="1800"/>
              <a:buNone/>
            </a:pPr>
            <a:r>
              <a:rPr lang="en" sz="1500">
                <a:solidFill>
                  <a:schemeClr val="dk1"/>
                </a:solidFill>
              </a:rPr>
              <a:t>Projection of impact of vulnerabilities within security architectures in 2021 before the rise of AI and quantum in genomic platforms</a:t>
            </a:r>
            <a:endParaRPr sz="1500">
              <a:solidFill>
                <a:schemeClr val="dk1"/>
              </a:solidFill>
            </a:endParaRPr>
          </a:p>
          <a:p>
            <a:pPr indent="0" lvl="0" marL="0" rtl="0" algn="l">
              <a:lnSpc>
                <a:spcPct val="90000"/>
              </a:lnSpc>
              <a:spcBef>
                <a:spcPts val="1000"/>
              </a:spcBef>
              <a:spcAft>
                <a:spcPts val="0"/>
              </a:spcAft>
              <a:buClr>
                <a:schemeClr val="dk1"/>
              </a:buClr>
              <a:buSzPts val="1100"/>
              <a:buFont typeface="Arial"/>
              <a:buNone/>
            </a:pPr>
            <a:r>
              <a:rPr lang="en" sz="1500">
                <a:solidFill>
                  <a:schemeClr val="dk1"/>
                </a:solidFill>
              </a:rPr>
              <a:t>Evidence of associated risks and threats remained insufficient and required further investigation which were later investigate in 2025 via Article 2 (Quantum Cyber)</a:t>
            </a:r>
            <a:endParaRPr sz="1500">
              <a:solidFill>
                <a:schemeClr val="dk1"/>
              </a:solidFill>
            </a:endParaRPr>
          </a:p>
          <a:p>
            <a:pPr indent="0" lvl="0" marL="0" rtl="0" algn="l">
              <a:lnSpc>
                <a:spcPct val="115000"/>
              </a:lnSpc>
              <a:spcBef>
                <a:spcPts val="0"/>
              </a:spcBef>
              <a:spcAft>
                <a:spcPts val="1200"/>
              </a:spcAft>
              <a:buSzPts val="1800"/>
              <a:buNone/>
            </a:pPr>
            <a:r>
              <a:t/>
            </a:r>
            <a:endParaRPr sz="15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990"/>
              <a:buNone/>
            </a:pPr>
            <a:r>
              <a:rPr lang="en" sz="2220"/>
              <a:t>The Evolution of Threats</a:t>
            </a:r>
            <a:endParaRPr sz="2220"/>
          </a:p>
        </p:txBody>
      </p:sp>
      <p:sp>
        <p:nvSpPr>
          <p:cNvPr id="133" name="Google Shape;133;p1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134" name="Google Shape;134;p12" title="Picture1.png"/>
          <p:cNvPicPr preferRelativeResize="0"/>
          <p:nvPr/>
        </p:nvPicPr>
        <p:blipFill rotWithShape="1">
          <a:blip r:embed="rId3">
            <a:alphaModFix/>
          </a:blip>
          <a:srcRect b="41975" l="0" r="0" t="0"/>
          <a:stretch/>
        </p:blipFill>
        <p:spPr>
          <a:xfrm>
            <a:off x="269950" y="1152475"/>
            <a:ext cx="8604099" cy="1928274"/>
          </a:xfrm>
          <a:prstGeom prst="rect">
            <a:avLst/>
          </a:prstGeom>
          <a:noFill/>
          <a:ln>
            <a:noFill/>
          </a:ln>
        </p:spPr>
      </p:pic>
      <p:sp>
        <p:nvSpPr>
          <p:cNvPr id="135" name="Google Shape;135;p12"/>
          <p:cNvSpPr txBox="1"/>
          <p:nvPr/>
        </p:nvSpPr>
        <p:spPr>
          <a:xfrm>
            <a:off x="1685400" y="3215500"/>
            <a:ext cx="57732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chemeClr val="dk1"/>
                </a:solidFill>
                <a:latin typeface="Arial"/>
                <a:ea typeface="Arial"/>
                <a:cs typeface="Arial"/>
                <a:sym typeface="Arial"/>
              </a:rPr>
              <a:t>Fig. 5 Allen, L. </a:t>
            </a:r>
            <a:r>
              <a:rPr b="1" i="0" lang="en" sz="800" u="none" cap="none" strike="noStrike">
                <a:solidFill>
                  <a:schemeClr val="dk1"/>
                </a:solidFill>
                <a:latin typeface="Arial"/>
                <a:ea typeface="Arial"/>
                <a:cs typeface="Arial"/>
                <a:sym typeface="Arial"/>
              </a:rPr>
              <a:t>Privacy Resilience in Genomic Data</a:t>
            </a:r>
            <a:r>
              <a:rPr b="0" i="0" lang="en" sz="800" u="none" cap="none" strike="noStrike">
                <a:solidFill>
                  <a:schemeClr val="dk1"/>
                </a:solidFill>
                <a:latin typeface="Arial"/>
                <a:ea typeface="Arial"/>
                <a:cs typeface="Arial"/>
                <a:sym typeface="Arial"/>
              </a:rPr>
              <a:t> (2026) details only 25 open-source tools being used for static analysis which examine the  software code without executing bioinformatics software employed in real-world clinical and commercial environment.</a:t>
            </a:r>
            <a:endParaRPr b="0" i="0" sz="800" u="none" cap="none" strike="noStrike">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990"/>
              <a:buNone/>
            </a:pPr>
            <a:r>
              <a:rPr lang="en" sz="2220"/>
              <a:t>Cybersecurity Approaches</a:t>
            </a:r>
            <a:endParaRPr sz="2220"/>
          </a:p>
        </p:txBody>
      </p:sp>
      <p:sp>
        <p:nvSpPr>
          <p:cNvPr id="141" name="Google Shape;141;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sz="1500">
                <a:solidFill>
                  <a:schemeClr val="dk1"/>
                </a:solidFill>
              </a:rPr>
              <a:t>Article 2 “Genomic Privacy and Security in the Era of AI and Quantum” shifts from identity-based to authority-based access control limiting credential permissions, in relations to mapping of pre-AI analysis with post-quantum cryptography</a:t>
            </a:r>
            <a:endParaRPr sz="1500">
              <a:solidFill>
                <a:schemeClr val="dk1"/>
              </a:solidFill>
            </a:endParaRPr>
          </a:p>
          <a:p>
            <a:pPr indent="0" lvl="0" marL="0" rtl="0" algn="l">
              <a:lnSpc>
                <a:spcPct val="115000"/>
              </a:lnSpc>
              <a:spcBef>
                <a:spcPts val="1200"/>
              </a:spcBef>
              <a:spcAft>
                <a:spcPts val="0"/>
              </a:spcAft>
              <a:buSzPts val="1800"/>
              <a:buNone/>
            </a:pPr>
            <a:r>
              <a:rPr lang="en" sz="1500">
                <a:solidFill>
                  <a:schemeClr val="dk1"/>
                </a:solidFill>
              </a:rPr>
              <a:t>Incorporates Zero Trust Architecture (ZTA) mandates ongoing verification of each access request through cryptographic tokens, certificates, and authentication protocols</a:t>
            </a:r>
            <a:endParaRPr sz="1500">
              <a:solidFill>
                <a:schemeClr val="dk1"/>
              </a:solidFill>
            </a:endParaRPr>
          </a:p>
          <a:p>
            <a:pPr indent="0" lvl="0" marL="0" rtl="0" algn="l">
              <a:lnSpc>
                <a:spcPct val="115000"/>
              </a:lnSpc>
              <a:spcBef>
                <a:spcPts val="1200"/>
              </a:spcBef>
              <a:spcAft>
                <a:spcPts val="1200"/>
              </a:spcAft>
              <a:buSzPts val="1800"/>
              <a:buNone/>
            </a:pPr>
            <a:r>
              <a:t/>
            </a:r>
            <a:endParaRPr sz="15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4"/>
          <p:cNvSpPr txBox="1"/>
          <p:nvPr>
            <p:ph type="title"/>
          </p:nvPr>
        </p:nvSpPr>
        <p:spPr>
          <a:xfrm>
            <a:off x="311700" y="378052"/>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990"/>
              <a:buNone/>
            </a:pPr>
            <a:r>
              <a:rPr lang="en" sz="2220"/>
              <a:t>Security &amp; Ethical Concerns of Quantum </a:t>
            </a:r>
            <a:endParaRPr sz="2220"/>
          </a:p>
          <a:p>
            <a:pPr indent="0" lvl="0" marL="0" rtl="0" algn="ctr">
              <a:lnSpc>
                <a:spcPct val="100000"/>
              </a:lnSpc>
              <a:spcBef>
                <a:spcPts val="0"/>
              </a:spcBef>
              <a:spcAft>
                <a:spcPts val="0"/>
              </a:spcAft>
              <a:buSzPts val="990"/>
              <a:buNone/>
            </a:pPr>
            <a:r>
              <a:rPr lang="en" sz="2220"/>
              <a:t>in Healthcare Databases</a:t>
            </a:r>
            <a:endParaRPr sz="2220"/>
          </a:p>
        </p:txBody>
      </p:sp>
      <p:sp>
        <p:nvSpPr>
          <p:cNvPr id="147" name="Google Shape;147;p1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sz="1500">
                <a:solidFill>
                  <a:schemeClr val="dk1"/>
                </a:solidFill>
              </a:rPr>
              <a:t>Atatckers can steal encrypted genomic data via databases today, store them, and decrypt them once quantum computers mature</a:t>
            </a:r>
            <a:endParaRPr sz="1500">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 sz="1500">
                <a:solidFill>
                  <a:schemeClr val="dk1"/>
                </a:solidFill>
              </a:rPr>
              <a:t>Shor's algorithm on a quantum computer can break RSA and elliptic curve cryptography used in HTTPS/TLS encryption to decrypt genetic data, targeting biological threats against specific groups (i.e. bioweapon)</a:t>
            </a:r>
            <a:endParaRPr sz="15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990"/>
              <a:buNone/>
            </a:pPr>
            <a:r>
              <a:rPr lang="en" sz="2220"/>
              <a:t>Cyberbiosecurity Measures</a:t>
            </a:r>
            <a:endParaRPr sz="2220"/>
          </a:p>
        </p:txBody>
      </p:sp>
      <p:pic>
        <p:nvPicPr>
          <p:cNvPr id="153" name="Google Shape;153;p15" title="Screenshot_11-4-2026_193426_.jpeg"/>
          <p:cNvPicPr preferRelativeResize="0"/>
          <p:nvPr/>
        </p:nvPicPr>
        <p:blipFill rotWithShape="1">
          <a:blip r:embed="rId3">
            <a:alphaModFix/>
          </a:blip>
          <a:srcRect b="0" l="0" r="0" t="0"/>
          <a:stretch/>
        </p:blipFill>
        <p:spPr>
          <a:xfrm>
            <a:off x="2078525" y="1217250"/>
            <a:ext cx="4986950" cy="3286850"/>
          </a:xfrm>
          <a:prstGeom prst="rect">
            <a:avLst/>
          </a:prstGeom>
          <a:noFill/>
          <a:ln>
            <a:noFill/>
          </a:ln>
        </p:spPr>
      </p:pic>
      <p:sp>
        <p:nvSpPr>
          <p:cNvPr id="154" name="Google Shape;154;p15"/>
          <p:cNvSpPr txBox="1"/>
          <p:nvPr>
            <p:ph idx="1" type="body"/>
          </p:nvPr>
        </p:nvSpPr>
        <p:spPr>
          <a:xfrm>
            <a:off x="311700" y="1152475"/>
            <a:ext cx="21375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n" sz="800">
                <a:solidFill>
                  <a:schemeClr val="dk1"/>
                </a:solidFill>
              </a:rPr>
              <a:t>Fig. 6 Cyberbiosecurity by Arshad et al. (2021) Both technical fixes and cultural shifts among bioinformatic developers prioritizing security to prevent genomic exploits, improve privacy with cryptography, homomorphic encryption, and parameterized queries to minimize vulnerabilities.</a:t>
            </a:r>
            <a:endParaRPr sz="8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990"/>
              <a:buNone/>
            </a:pPr>
            <a:r>
              <a:rPr lang="en" sz="2200"/>
              <a:t>Threat Landscape of Quantum in Healthcare</a:t>
            </a:r>
            <a:endParaRPr sz="2200"/>
          </a:p>
        </p:txBody>
      </p:sp>
      <p:sp>
        <p:nvSpPr>
          <p:cNvPr id="160" name="Google Shape;160;p1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90000"/>
              </a:lnSpc>
              <a:spcBef>
                <a:spcPts val="1000"/>
              </a:spcBef>
              <a:spcAft>
                <a:spcPts val="0"/>
              </a:spcAft>
              <a:buClr>
                <a:schemeClr val="dk1"/>
              </a:buClr>
              <a:buSzPts val="1100"/>
              <a:buFont typeface="Arial"/>
              <a:buNone/>
            </a:pPr>
            <a:r>
              <a:rPr lang="en" sz="1500">
                <a:solidFill>
                  <a:schemeClr val="dk1"/>
                </a:solidFill>
              </a:rPr>
              <a:t>Genomic data has multiplied and shared across institutions creating interoperability vulnerabilities without a cross-chain governance to limit access control</a:t>
            </a:r>
            <a:endParaRPr sz="1500">
              <a:solidFill>
                <a:schemeClr val="dk1"/>
              </a:solidFill>
            </a:endParaRPr>
          </a:p>
          <a:p>
            <a:pPr indent="0" lvl="0" marL="0" rtl="0" algn="l">
              <a:lnSpc>
                <a:spcPct val="90000"/>
              </a:lnSpc>
              <a:spcBef>
                <a:spcPts val="1000"/>
              </a:spcBef>
              <a:spcAft>
                <a:spcPts val="0"/>
              </a:spcAft>
              <a:buClr>
                <a:schemeClr val="dk1"/>
              </a:buClr>
              <a:buSzPts val="1100"/>
              <a:buFont typeface="Arial"/>
              <a:buNone/>
            </a:pPr>
            <a:r>
              <a:rPr lang="en" sz="1500">
                <a:solidFill>
                  <a:schemeClr val="dk1"/>
                </a:solidFill>
              </a:rPr>
              <a:t>“Harvest now, decrypt later” tactic store encrypted healthcare data waiting for quantum computing to break current encryption and expose sensitive information</a:t>
            </a:r>
            <a:endParaRPr sz="1500">
              <a:solidFill>
                <a:schemeClr val="dk1"/>
              </a:solidFill>
            </a:endParaRPr>
          </a:p>
          <a:p>
            <a:pPr indent="0" lvl="0" marL="0" rtl="0" algn="l">
              <a:lnSpc>
                <a:spcPct val="90000"/>
              </a:lnSpc>
              <a:spcBef>
                <a:spcPts val="1000"/>
              </a:spcBef>
              <a:spcAft>
                <a:spcPts val="0"/>
              </a:spcAft>
              <a:buClr>
                <a:schemeClr val="dk1"/>
              </a:buClr>
              <a:buSzPts val="1100"/>
              <a:buFont typeface="Arial"/>
              <a:buNone/>
            </a:pPr>
            <a:r>
              <a:t/>
            </a:r>
            <a:endParaRPr sz="1500">
              <a:solidFill>
                <a:schemeClr val="dk1"/>
              </a:solidFill>
            </a:endParaRPr>
          </a:p>
          <a:p>
            <a:pPr indent="0" lvl="0" marL="0" rtl="0" algn="l">
              <a:lnSpc>
                <a:spcPct val="115000"/>
              </a:lnSpc>
              <a:spcBef>
                <a:spcPts val="0"/>
              </a:spcBef>
              <a:spcAft>
                <a:spcPts val="1200"/>
              </a:spcAft>
              <a:buSzPts val="1800"/>
              <a:buNone/>
            </a:pPr>
            <a:r>
              <a:t/>
            </a:r>
            <a:endParaRPr sz="15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990"/>
              <a:buNone/>
            </a:pPr>
            <a:r>
              <a:rPr lang="en" sz="2220"/>
              <a:t>Quantum Environment</a:t>
            </a:r>
            <a:endParaRPr sz="2220"/>
          </a:p>
        </p:txBody>
      </p:sp>
      <p:sp>
        <p:nvSpPr>
          <p:cNvPr id="166" name="Google Shape;166;p17"/>
          <p:cNvSpPr txBox="1"/>
          <p:nvPr>
            <p:ph idx="1" type="body"/>
          </p:nvPr>
        </p:nvSpPr>
        <p:spPr>
          <a:xfrm>
            <a:off x="903175" y="4042250"/>
            <a:ext cx="7319700" cy="5727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1200"/>
              </a:spcAft>
              <a:buSzPts val="1800"/>
              <a:buNone/>
            </a:pPr>
            <a:r>
              <a:rPr lang="en" sz="800">
                <a:solidFill>
                  <a:schemeClr val="dk1"/>
                </a:solidFill>
              </a:rPr>
              <a:t>Fig. 7 Quantum Treat Environment by Allen, L (2026) Quantum computers can re-identify records by combining genome fragments and AI-based phenotype predictions. Defend with CRYSTALS for key encapsulation and digital signatures along with Fully Homomorphic Encryption (FHE) measures based on lattice problems are more quantum-resistant than RSA encryption.</a:t>
            </a:r>
            <a:endParaRPr sz="800">
              <a:solidFill>
                <a:schemeClr val="dk1"/>
              </a:solidFill>
            </a:endParaRPr>
          </a:p>
        </p:txBody>
      </p:sp>
      <p:pic>
        <p:nvPicPr>
          <p:cNvPr id="167" name="Google Shape;167;p17" title="qunatum threat 2.png"/>
          <p:cNvPicPr preferRelativeResize="0"/>
          <p:nvPr/>
        </p:nvPicPr>
        <p:blipFill rotWithShape="1">
          <a:blip r:embed="rId3">
            <a:alphaModFix/>
          </a:blip>
          <a:srcRect b="583" l="0" r="0" t="593"/>
          <a:stretch/>
        </p:blipFill>
        <p:spPr>
          <a:xfrm>
            <a:off x="1014038" y="1166500"/>
            <a:ext cx="7115924" cy="28105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990"/>
              <a:buNone/>
            </a:pPr>
            <a:r>
              <a:rPr lang="en" sz="2220"/>
              <a:t>Cybersecurity Solutions</a:t>
            </a:r>
            <a:endParaRPr sz="2220"/>
          </a:p>
        </p:txBody>
      </p:sp>
      <p:sp>
        <p:nvSpPr>
          <p:cNvPr id="173" name="Google Shape;173;p1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90000"/>
              </a:lnSpc>
              <a:spcBef>
                <a:spcPts val="1000"/>
              </a:spcBef>
              <a:spcAft>
                <a:spcPts val="0"/>
              </a:spcAft>
              <a:buClr>
                <a:schemeClr val="dk1"/>
              </a:buClr>
              <a:buSzPts val="1100"/>
              <a:buFont typeface="Arial"/>
              <a:buNone/>
            </a:pPr>
            <a:r>
              <a:rPr lang="en" sz="1500">
                <a:solidFill>
                  <a:schemeClr val="dk1"/>
                </a:solidFill>
              </a:rPr>
              <a:t>Sequencer security guidelines mandate no long-term storage of session keys and require the use of post-quantum TLS 1.3, a hybrid key exchange</a:t>
            </a:r>
            <a:endParaRPr sz="1500">
              <a:solidFill>
                <a:schemeClr val="dk1"/>
              </a:solidFill>
            </a:endParaRPr>
          </a:p>
          <a:p>
            <a:pPr indent="0" lvl="0" marL="0" rtl="0" algn="l">
              <a:lnSpc>
                <a:spcPct val="90000"/>
              </a:lnSpc>
              <a:spcBef>
                <a:spcPts val="1000"/>
              </a:spcBef>
              <a:spcAft>
                <a:spcPts val="0"/>
              </a:spcAft>
              <a:buClr>
                <a:schemeClr val="dk1"/>
              </a:buClr>
              <a:buSzPts val="1100"/>
              <a:buFont typeface="Arial"/>
              <a:buNone/>
            </a:pPr>
            <a:r>
              <a:rPr lang="en" sz="1500">
                <a:solidFill>
                  <a:schemeClr val="dk1"/>
                </a:solidFill>
              </a:rPr>
              <a:t>Post-quantum cryptography standards include CRYSTALS-Kyber for key encapsulation, CRYSTALS-Dilithium for digital signatures, and SPHINCS+ as a hash-based backup</a:t>
            </a:r>
            <a:endParaRPr sz="1500">
              <a:solidFill>
                <a:schemeClr val="dk1"/>
              </a:solidFill>
            </a:endParaRPr>
          </a:p>
          <a:p>
            <a:pPr indent="0" lvl="0" marL="0" rtl="0" algn="l">
              <a:lnSpc>
                <a:spcPct val="90000"/>
              </a:lnSpc>
              <a:spcBef>
                <a:spcPts val="1000"/>
              </a:spcBef>
              <a:spcAft>
                <a:spcPts val="0"/>
              </a:spcAft>
              <a:buClr>
                <a:schemeClr val="dk1"/>
              </a:buClr>
              <a:buSzPts val="1100"/>
              <a:buFont typeface="Arial"/>
              <a:buNone/>
            </a:pPr>
            <a:r>
              <a:rPr lang="en" sz="1500">
                <a:solidFill>
                  <a:schemeClr val="dk1"/>
                </a:solidFill>
              </a:rPr>
              <a:t>Intrusion detection systems using genomic-specific behavioral baselines amongst all cross-shared institutions</a:t>
            </a:r>
            <a:endParaRPr sz="1500">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990"/>
              <a:buNone/>
            </a:pPr>
            <a:r>
              <a:rPr lang="en" sz="2220"/>
              <a:t>Cybersecurity Architecture</a:t>
            </a:r>
            <a:endParaRPr sz="2220"/>
          </a:p>
        </p:txBody>
      </p:sp>
      <p:sp>
        <p:nvSpPr>
          <p:cNvPr id="179" name="Google Shape;179;p19"/>
          <p:cNvSpPr txBox="1"/>
          <p:nvPr>
            <p:ph idx="1" type="body"/>
          </p:nvPr>
        </p:nvSpPr>
        <p:spPr>
          <a:xfrm>
            <a:off x="311700" y="1152475"/>
            <a:ext cx="19371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n" sz="800">
                <a:solidFill>
                  <a:schemeClr val="dk1"/>
                </a:solidFill>
              </a:rPr>
              <a:t>Fig. 8 National MUD Architecture for a Sequencer by Annan et al., (2025) The Manufacturer Usage Description (MUD) secures sequencers like IoT devices by limiting communication, reducing attack surfaces and protecting against data exfiltration and firmware exploits to harvest data for later decryption.</a:t>
            </a:r>
            <a:endParaRPr sz="800">
              <a:solidFill>
                <a:schemeClr val="dk1"/>
              </a:solidFill>
            </a:endParaRPr>
          </a:p>
        </p:txBody>
      </p:sp>
      <p:pic>
        <p:nvPicPr>
          <p:cNvPr id="180" name="Google Shape;180;p19" title="Screenshot_11-4-2026_194026_.jpeg"/>
          <p:cNvPicPr preferRelativeResize="0"/>
          <p:nvPr/>
        </p:nvPicPr>
        <p:blipFill rotWithShape="1">
          <a:blip r:embed="rId3">
            <a:alphaModFix/>
          </a:blip>
          <a:srcRect b="5580" l="0" r="0" t="0"/>
          <a:stretch/>
        </p:blipFill>
        <p:spPr>
          <a:xfrm>
            <a:off x="2248700" y="1152475"/>
            <a:ext cx="4646775" cy="32256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0"/>
          <p:cNvSpPr txBox="1"/>
          <p:nvPr>
            <p:ph type="title"/>
          </p:nvPr>
        </p:nvSpPr>
        <p:spPr>
          <a:xfrm>
            <a:off x="311700" y="364658"/>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sz="2200"/>
              <a:t>The Relationship Between Analysis </a:t>
            </a:r>
            <a:endParaRPr sz="2200"/>
          </a:p>
          <a:p>
            <a:pPr indent="0" lvl="0" marL="0" rtl="0" algn="ctr">
              <a:lnSpc>
                <a:spcPct val="100000"/>
              </a:lnSpc>
              <a:spcBef>
                <a:spcPts val="0"/>
              </a:spcBef>
              <a:spcAft>
                <a:spcPts val="0"/>
              </a:spcAft>
              <a:buSzPts val="2800"/>
              <a:buNone/>
            </a:pPr>
            <a:r>
              <a:rPr lang="en" sz="2200"/>
              <a:t>and Cybersecurity Defense</a:t>
            </a:r>
            <a:endParaRPr sz="2200"/>
          </a:p>
        </p:txBody>
      </p:sp>
      <p:sp>
        <p:nvSpPr>
          <p:cNvPr id="186" name="Google Shape;186;p2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90000"/>
              </a:lnSpc>
              <a:spcBef>
                <a:spcPts val="1000"/>
              </a:spcBef>
              <a:spcAft>
                <a:spcPts val="0"/>
              </a:spcAft>
              <a:buClr>
                <a:schemeClr val="dk1"/>
              </a:buClr>
              <a:buSzPts val="1100"/>
              <a:buFont typeface="Arial"/>
              <a:buNone/>
            </a:pPr>
            <a:r>
              <a:rPr lang="en" sz="1500">
                <a:solidFill>
                  <a:schemeClr val="dk1"/>
                </a:solidFill>
              </a:rPr>
              <a:t>Article 1 established risks and vulnerabilities before AI entered healthcare platforms </a:t>
            </a:r>
            <a:endParaRPr sz="1500">
              <a:solidFill>
                <a:schemeClr val="dk1"/>
              </a:solidFill>
            </a:endParaRPr>
          </a:p>
          <a:p>
            <a:pPr indent="0" lvl="0" marL="0" rtl="0" algn="l">
              <a:lnSpc>
                <a:spcPct val="90000"/>
              </a:lnSpc>
              <a:spcBef>
                <a:spcPts val="1000"/>
              </a:spcBef>
              <a:spcAft>
                <a:spcPts val="0"/>
              </a:spcAft>
              <a:buClr>
                <a:schemeClr val="dk1"/>
              </a:buClr>
              <a:buSzPts val="1100"/>
              <a:buFont typeface="Arial"/>
              <a:buNone/>
            </a:pPr>
            <a:r>
              <a:rPr lang="en" sz="1500">
                <a:solidFill>
                  <a:schemeClr val="dk1"/>
                </a:solidFill>
              </a:rPr>
              <a:t>Article 2 reflect the impact and mapping of vulnerabilities along with testing incorporating quantum and cryptographic encryption</a:t>
            </a:r>
            <a:endParaRPr sz="1500">
              <a:solidFill>
                <a:schemeClr val="dk1"/>
              </a:solidFill>
            </a:endParaRPr>
          </a:p>
          <a:p>
            <a:pPr indent="0" lvl="0" marL="0" rtl="0" algn="l">
              <a:lnSpc>
                <a:spcPct val="90000"/>
              </a:lnSpc>
              <a:spcBef>
                <a:spcPts val="1000"/>
              </a:spcBef>
              <a:spcAft>
                <a:spcPts val="0"/>
              </a:spcAft>
              <a:buClr>
                <a:schemeClr val="dk1"/>
              </a:buClr>
              <a:buSzPts val="1100"/>
              <a:buFont typeface="Arial"/>
              <a:buNone/>
            </a:pPr>
            <a:r>
              <a:rPr lang="en" sz="1500">
                <a:solidFill>
                  <a:schemeClr val="dk1"/>
                </a:solidFill>
              </a:rPr>
              <a:t>Both articles demonstrate that genomic data vulnerabilities are real, well-documented, and lack adequate accountability and protection in existing systems</a:t>
            </a:r>
            <a:endParaRPr sz="1500">
              <a:solidFill>
                <a:schemeClr val="dk1"/>
              </a:solidFill>
            </a:endParaRPr>
          </a:p>
          <a:p>
            <a:pPr indent="0" lvl="0" marL="0" rtl="0" algn="l">
              <a:lnSpc>
                <a:spcPct val="90000"/>
              </a:lnSpc>
              <a:spcBef>
                <a:spcPts val="1000"/>
              </a:spcBef>
              <a:spcAft>
                <a:spcPts val="0"/>
              </a:spcAft>
              <a:buClr>
                <a:schemeClr val="dk1"/>
              </a:buClr>
              <a:buSzPts val="1100"/>
              <a:buFont typeface="Arial"/>
              <a:buNone/>
            </a:pPr>
            <a:r>
              <a:t/>
            </a:r>
            <a:endParaRPr sz="1500">
              <a:solidFill>
                <a:schemeClr val="dk1"/>
              </a:solidFill>
            </a:endParaRPr>
          </a:p>
          <a:p>
            <a:pPr indent="0" lvl="0" marL="0" rtl="0" algn="l">
              <a:lnSpc>
                <a:spcPct val="90000"/>
              </a:lnSpc>
              <a:spcBef>
                <a:spcPts val="1000"/>
              </a:spcBef>
              <a:spcAft>
                <a:spcPts val="0"/>
              </a:spcAft>
              <a:buClr>
                <a:schemeClr val="dk1"/>
              </a:buClr>
              <a:buSzPts val="1100"/>
              <a:buFont typeface="Arial"/>
              <a:buNone/>
            </a:pPr>
            <a:r>
              <a:t/>
            </a:r>
            <a:endParaRPr sz="1500">
              <a:solidFill>
                <a:schemeClr val="dk1"/>
              </a:solidFill>
            </a:endParaRPr>
          </a:p>
          <a:p>
            <a:pPr indent="0" lvl="0" marL="0" rtl="0" algn="l">
              <a:lnSpc>
                <a:spcPct val="115000"/>
              </a:lnSpc>
              <a:spcBef>
                <a:spcPts val="0"/>
              </a:spcBef>
              <a:spcAft>
                <a:spcPts val="1200"/>
              </a:spcAft>
              <a:buSzPts val="1800"/>
              <a:buNone/>
            </a:pPr>
            <a:r>
              <a:t/>
            </a:r>
            <a:endParaRPr sz="150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990"/>
              <a:buNone/>
            </a:pPr>
            <a:r>
              <a:rPr lang="en" sz="2220"/>
              <a:t>References</a:t>
            </a:r>
            <a:endParaRPr sz="2220"/>
          </a:p>
        </p:txBody>
      </p:sp>
      <p:sp>
        <p:nvSpPr>
          <p:cNvPr id="192" name="Google Shape;192;p2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90000"/>
              </a:lnSpc>
              <a:spcBef>
                <a:spcPts val="1000"/>
              </a:spcBef>
              <a:spcAft>
                <a:spcPts val="0"/>
              </a:spcAft>
              <a:buClr>
                <a:schemeClr val="dk1"/>
              </a:buClr>
              <a:buSzPts val="1100"/>
              <a:buFont typeface="Arial"/>
              <a:buNone/>
            </a:pPr>
            <a:r>
              <a:rPr lang="en" sz="1500">
                <a:solidFill>
                  <a:schemeClr val="dk1"/>
                </a:solidFill>
              </a:rPr>
              <a:t>Arshad, S., Arshad, J., Khan, M. M., Parkinson, S. "Analysis of Security and Privacy Challenges for DNA-Genomics Applications and Databases." Journal of Biomedical Informatics, vol. 119, 2021, p. 103815. ScienceDirect, doi:10.1016/j.jbi.2021.103815.</a:t>
            </a:r>
            <a:endParaRPr sz="1500">
              <a:solidFill>
                <a:schemeClr val="dk1"/>
              </a:solidFill>
            </a:endParaRPr>
          </a:p>
          <a:p>
            <a:pPr indent="0" lvl="0" marL="0" rtl="0" algn="l">
              <a:lnSpc>
                <a:spcPct val="90000"/>
              </a:lnSpc>
              <a:spcBef>
                <a:spcPts val="1000"/>
              </a:spcBef>
              <a:spcAft>
                <a:spcPts val="0"/>
              </a:spcAft>
              <a:buClr>
                <a:schemeClr val="dk1"/>
              </a:buClr>
              <a:buSzPts val="1100"/>
              <a:buFont typeface="Arial"/>
              <a:buNone/>
            </a:pPr>
            <a:r>
              <a:rPr lang="en" sz="1500">
                <a:solidFill>
                  <a:schemeClr val="dk1"/>
                </a:solidFill>
              </a:rPr>
              <a:t>Annan, R. K., Noland, J., Perkins, K.,  Xiaohong, Y., Kaushik, R., Qingge, L. "Genomic Privacy and Security in the Era of Artificial Intelligence and Quantum Computing." Discover Computing, vol. 28, 2025. Springer Nature, doi:10.1007/s10791-025-09627-w.</a:t>
            </a:r>
            <a:endParaRPr sz="1500">
              <a:solidFill>
                <a:schemeClr val="dk1"/>
              </a:solidFill>
            </a:endParaRPr>
          </a:p>
          <a:p>
            <a:pPr indent="0" lvl="0" marL="0" rtl="0" algn="l">
              <a:lnSpc>
                <a:spcPct val="90000"/>
              </a:lnSpc>
              <a:spcBef>
                <a:spcPts val="1000"/>
              </a:spcBef>
              <a:spcAft>
                <a:spcPts val="0"/>
              </a:spcAft>
              <a:buClr>
                <a:schemeClr val="dk1"/>
              </a:buClr>
              <a:buSzPts val="1100"/>
              <a:buFont typeface="Arial"/>
              <a:buNone/>
            </a:pPr>
            <a:r>
              <a:rPr lang="en" sz="1500">
                <a:solidFill>
                  <a:schemeClr val="dk1"/>
                </a:solidFill>
              </a:rPr>
              <a:t>Naveed M, Ayday E, Clayton EW, Fellay J, Gunter CA, Hubaux JP, Malin BA, Wang X (2015) Privacy in the Genomic Era. ACM Computer Survey 48(1). https://doi.org/10.1145/2767007 </a:t>
            </a:r>
            <a:endParaRPr sz="1500">
              <a:solidFill>
                <a:schemeClr val="dk1"/>
              </a:solidFill>
            </a:endParaRPr>
          </a:p>
          <a:p>
            <a:pPr indent="0" lvl="0" marL="0" rtl="0" algn="l">
              <a:lnSpc>
                <a:spcPct val="115000"/>
              </a:lnSpc>
              <a:spcBef>
                <a:spcPts val="0"/>
              </a:spcBef>
              <a:spcAft>
                <a:spcPts val="1200"/>
              </a:spcAft>
              <a:buSzPts val="1800"/>
              <a:buNone/>
            </a:pPr>
            <a:r>
              <a:t/>
            </a:r>
            <a:endParaRPr sz="15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