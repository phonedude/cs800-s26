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5" r:id="rId1"/>
  </p:sldMasterIdLst>
  <p:sldIdLst>
    <p:sldId id="256" r:id="rId2"/>
    <p:sldId id="257" r:id="rId3"/>
    <p:sldId id="258" r:id="rId4"/>
    <p:sldId id="259" r:id="rId5"/>
    <p:sldId id="260" r:id="rId6"/>
    <p:sldId id="261" r:id="rId7"/>
    <p:sldId id="264" r:id="rId8"/>
    <p:sldId id="262" r:id="rId9"/>
    <p:sldId id="263" r:id="rId10"/>
    <p:sldId id="266" r:id="rId11"/>
    <p:sldId id="265"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p:scale>
          <a:sx n="40" d="100"/>
          <a:sy n="40" d="100"/>
        </p:scale>
        <p:origin x="1896" y="6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48A87A34-81AB-432B-8DAE-1953F412C126}" type="datetimeFigureOut">
              <a:rPr lang="en-US" smtClean="0"/>
              <a:t>3/23/2026</a:t>
            </a:fld>
            <a:endParaRPr lang="en-US" dirty="0"/>
          </a:p>
        </p:txBody>
      </p:sp>
      <p:sp>
        <p:nvSpPr>
          <p:cNvPr id="5" name="Footer Placeholder 4"/>
          <p:cNvSpPr>
            <a:spLocks noGrp="1"/>
          </p:cNvSpPr>
          <p:nvPr>
            <p:ph type="ftr" sz="quarter" idx="11"/>
          </p:nvPr>
        </p:nvSpPr>
        <p:spPr>
          <a:xfrm>
            <a:off x="1371600" y="4323845"/>
            <a:ext cx="6400800" cy="365125"/>
          </a:xfrm>
        </p:spPr>
        <p:txBody>
          <a:bodyPr/>
          <a:lstStyle/>
          <a:p>
            <a:endParaRPr lang="en-US" dirty="0"/>
          </a:p>
        </p:txBody>
      </p:sp>
      <p:sp>
        <p:nvSpPr>
          <p:cNvPr id="6" name="Slide Number Placeholder 5"/>
          <p:cNvSpPr>
            <a:spLocks noGrp="1"/>
          </p:cNvSpPr>
          <p:nvPr>
            <p:ph type="sldNum" sz="quarter" idx="12"/>
          </p:nvPr>
        </p:nvSpPr>
        <p:spPr>
          <a:xfrm>
            <a:off x="8077200" y="1430866"/>
            <a:ext cx="2743200"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77641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001520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smtClean="0"/>
              <a:pPr/>
              <a:t>3/23/2026</a:t>
            </a:fld>
            <a:endParaRPr lang="en-US" dirty="0"/>
          </a:p>
        </p:txBody>
      </p:sp>
      <p:sp>
        <p:nvSpPr>
          <p:cNvPr id="5" name="Footer Placeholder 4"/>
          <p:cNvSpPr>
            <a:spLocks noGrp="1"/>
          </p:cNvSpPr>
          <p:nvPr>
            <p:ph type="ftr" sz="quarter" idx="11"/>
          </p:nvPr>
        </p:nvSpPr>
        <p:spPr>
          <a:xfrm>
            <a:off x="685800" y="381001"/>
            <a:ext cx="6991492" cy="36406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037578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3/23/2026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053757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3/23/2026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774258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3/23/2026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848391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3/23/2026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630898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3/23/2026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432242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3/23/2026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16629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3/23/2026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231376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smtClean="0"/>
              <a:pPr/>
              <a:t>3/23/2026</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293495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smtClean="0"/>
              <a:pPr/>
              <a:t>3/23/2026</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smtClean="0"/>
              <a:t>‹#›</a:t>
            </a:fld>
            <a:endParaRPr lang="en-US" dirty="0"/>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3247937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48A87A34-81AB-432B-8DAE-1953F412C126}" type="datetimeFigureOut">
              <a:rPr lang="en-US" smtClean="0"/>
              <a:pPr/>
              <a:t>3/23/2026</a:t>
            </a:fld>
            <a:endParaRPr lang="en-US" dirty="0"/>
          </a:p>
        </p:txBody>
      </p:sp>
      <p:sp>
        <p:nvSpPr>
          <p:cNvPr id="6" name="Footer Placeholder 5"/>
          <p:cNvSpPr>
            <a:spLocks noGrp="1"/>
          </p:cNvSpPr>
          <p:nvPr>
            <p:ph type="ftr" sz="quarter" idx="11"/>
          </p:nvPr>
        </p:nvSpPr>
        <p:spPr>
          <a:xfrm>
            <a:off x="685800" y="378883"/>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9495264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3/23/2026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925155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3/23/2026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621584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0319140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48A87A34-81AB-432B-8DAE-1953F412C126}" type="datetimeFigureOut">
              <a:rPr lang="en-US" smtClean="0"/>
              <a:pPr/>
              <a:t>3/23/2026</a:t>
            </a:fld>
            <a:endParaRPr lang="en-US" dirty="0"/>
          </a:p>
        </p:txBody>
      </p:sp>
      <p:sp>
        <p:nvSpPr>
          <p:cNvPr id="5" name="Footer Placeholder 4"/>
          <p:cNvSpPr>
            <a:spLocks noGrp="1"/>
          </p:cNvSpPr>
          <p:nvPr>
            <p:ph type="ftr" sz="quarter" idx="11"/>
          </p:nvPr>
        </p:nvSpPr>
        <p:spPr>
          <a:xfrm>
            <a:off x="685800" y="381000"/>
            <a:ext cx="6991492" cy="36512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775851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1-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smtClean="0"/>
              <a:pPr/>
              <a:t>3/23/2026</a:t>
            </a:fld>
            <a:endParaRPr lang="en-US" dirty="0"/>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086296284"/>
      </p:ext>
    </p:extLst>
  </p:cSld>
  <p:clrMap bg1="dk1" tx1="lt1" bg2="dk2" tx2="lt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F4378-A447-95B2-FF06-AA80BFA1DE05}"/>
              </a:ext>
            </a:extLst>
          </p:cNvPr>
          <p:cNvSpPr>
            <a:spLocks noGrp="1"/>
          </p:cNvSpPr>
          <p:nvPr>
            <p:ph type="ctrTitle"/>
          </p:nvPr>
        </p:nvSpPr>
        <p:spPr/>
        <p:txBody>
          <a:bodyPr>
            <a:normAutofit fontScale="90000"/>
          </a:bodyPr>
          <a:lstStyle/>
          <a:p>
            <a:r>
              <a:rPr lang="en-US" dirty="0"/>
              <a:t>AI in Healthcare:</a:t>
            </a:r>
            <a:br>
              <a:rPr lang="en-US" dirty="0"/>
            </a:br>
            <a:r>
              <a:rPr lang="en-US" dirty="0"/>
              <a:t>Genomic privacy &amp; Security</a:t>
            </a:r>
          </a:p>
        </p:txBody>
      </p:sp>
      <p:sp>
        <p:nvSpPr>
          <p:cNvPr id="3" name="Subtitle 2">
            <a:extLst>
              <a:ext uri="{FF2B5EF4-FFF2-40B4-BE49-F238E27FC236}">
                <a16:creationId xmlns:a16="http://schemas.microsoft.com/office/drawing/2014/main" id="{33818FFB-F2C0-C383-9374-41DC809F3977}"/>
              </a:ext>
            </a:extLst>
          </p:cNvPr>
          <p:cNvSpPr>
            <a:spLocks noGrp="1"/>
          </p:cNvSpPr>
          <p:nvPr>
            <p:ph type="subTitle" idx="1"/>
          </p:nvPr>
        </p:nvSpPr>
        <p:spPr>
          <a:xfrm>
            <a:off x="1371600" y="3632200"/>
            <a:ext cx="9448800" cy="1193017"/>
          </a:xfrm>
        </p:spPr>
        <p:txBody>
          <a:bodyPr>
            <a:normAutofit/>
          </a:bodyPr>
          <a:lstStyle/>
          <a:p>
            <a:r>
              <a:rPr lang="en-US" dirty="0"/>
              <a:t>Lulu Allen</a:t>
            </a:r>
          </a:p>
          <a:p>
            <a:r>
              <a:rPr lang="en-US" dirty="0"/>
              <a:t>CS 800 Research Method</a:t>
            </a:r>
          </a:p>
          <a:p>
            <a:r>
              <a:rPr lang="en-US" dirty="0"/>
              <a:t>3/20/2026</a:t>
            </a:r>
          </a:p>
        </p:txBody>
      </p:sp>
    </p:spTree>
    <p:extLst>
      <p:ext uri="{BB962C8B-B14F-4D97-AF65-F5344CB8AC3E}">
        <p14:creationId xmlns:p14="http://schemas.microsoft.com/office/powerpoint/2010/main" val="3475704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E4992-0657-AF6C-24EA-0A1799B85858}"/>
              </a:ext>
            </a:extLst>
          </p:cNvPr>
          <p:cNvSpPr>
            <a:spLocks noGrp="1"/>
          </p:cNvSpPr>
          <p:nvPr>
            <p:ph type="title"/>
          </p:nvPr>
        </p:nvSpPr>
        <p:spPr/>
        <p:txBody>
          <a:bodyPr/>
          <a:lstStyle/>
          <a:p>
            <a:r>
              <a:rPr lang="en-US" dirty="0"/>
              <a:t>Why These two sources</a:t>
            </a:r>
          </a:p>
        </p:txBody>
      </p:sp>
      <p:sp>
        <p:nvSpPr>
          <p:cNvPr id="3" name="Content Placeholder 2">
            <a:extLst>
              <a:ext uri="{FF2B5EF4-FFF2-40B4-BE49-F238E27FC236}">
                <a16:creationId xmlns:a16="http://schemas.microsoft.com/office/drawing/2014/main" id="{25D0A35C-32DD-95AB-FDEB-3DCA92B3C825}"/>
              </a:ext>
            </a:extLst>
          </p:cNvPr>
          <p:cNvSpPr>
            <a:spLocks noGrp="1"/>
          </p:cNvSpPr>
          <p:nvPr>
            <p:ph idx="1"/>
          </p:nvPr>
        </p:nvSpPr>
        <p:spPr/>
        <p:txBody>
          <a:bodyPr/>
          <a:lstStyle/>
          <a:p>
            <a:r>
              <a:rPr lang="en-US" dirty="0"/>
              <a:t>Article 1: Analysis of security and Privacy Challenges established a diagnostic baseline throughout a system life cycle utilizing vulnerability mapping as an established foundation</a:t>
            </a:r>
          </a:p>
          <a:p>
            <a:r>
              <a:rPr lang="en-US" dirty="0"/>
              <a:t>Did not test and validate the risks, encryption standards, or critical gaps within security architectures in genomic data outside their scope</a:t>
            </a:r>
          </a:p>
          <a:p>
            <a:r>
              <a:rPr lang="en-US" dirty="0"/>
              <a:t>Article 2: Genomic Privacy and Security in the Era of AI and Quantum extends the threat blueprint of AI-driven attacks and quantum computing vulnerabilities in reference to mapping of pre-AI analysis with post-quantum cryptography </a:t>
            </a:r>
          </a:p>
        </p:txBody>
      </p:sp>
    </p:spTree>
    <p:extLst>
      <p:ext uri="{BB962C8B-B14F-4D97-AF65-F5344CB8AC3E}">
        <p14:creationId xmlns:p14="http://schemas.microsoft.com/office/powerpoint/2010/main" val="30213476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3B8C5-18E4-D0E3-35C1-449AFD1CC60D}"/>
              </a:ext>
            </a:extLst>
          </p:cNvPr>
          <p:cNvSpPr>
            <a:spLocks noGrp="1"/>
          </p:cNvSpPr>
          <p:nvPr>
            <p:ph type="title"/>
          </p:nvPr>
        </p:nvSpPr>
        <p:spPr/>
        <p:txBody>
          <a:bodyPr>
            <a:normAutofit fontScale="90000"/>
          </a:bodyPr>
          <a:lstStyle/>
          <a:p>
            <a:r>
              <a:rPr lang="en-US" dirty="0"/>
              <a:t>Article 1</a:t>
            </a:r>
            <a:br>
              <a:rPr lang="en-US" dirty="0"/>
            </a:br>
            <a:r>
              <a:rPr lang="en-US" sz="1800" dirty="0"/>
              <a:t>Analysis of Security and Privacy Challenges for DNA Genomics Applications and databases </a:t>
            </a:r>
            <a:br>
              <a:rPr lang="en-US" dirty="0"/>
            </a:br>
            <a:endParaRPr lang="en-US" dirty="0"/>
          </a:p>
        </p:txBody>
      </p:sp>
      <p:sp>
        <p:nvSpPr>
          <p:cNvPr id="3" name="Content Placeholder 2">
            <a:extLst>
              <a:ext uri="{FF2B5EF4-FFF2-40B4-BE49-F238E27FC236}">
                <a16:creationId xmlns:a16="http://schemas.microsoft.com/office/drawing/2014/main" id="{17F5E8D8-8CA1-B309-1B68-B11D8184AFA5}"/>
              </a:ext>
            </a:extLst>
          </p:cNvPr>
          <p:cNvSpPr>
            <a:spLocks noGrp="1"/>
          </p:cNvSpPr>
          <p:nvPr>
            <p:ph idx="1"/>
          </p:nvPr>
        </p:nvSpPr>
        <p:spPr/>
        <p:txBody>
          <a:bodyPr/>
          <a:lstStyle/>
          <a:p>
            <a:r>
              <a:rPr lang="en-US" dirty="0"/>
              <a:t>Maps vulnerabilities through system lifecycle including collection, sequencing, storage, analysis, and cross-institution sharing and analyze privacy risk during encryption, anonymization, and access control</a:t>
            </a:r>
          </a:p>
          <a:p>
            <a:r>
              <a:rPr lang="en-US" dirty="0"/>
              <a:t>One breach can permanently expose generations of a family through uniquely identifying factors such as biological data and sharing of relatives without consent</a:t>
            </a:r>
          </a:p>
          <a:p>
            <a:r>
              <a:rPr lang="en-US" dirty="0"/>
              <a:t>Evaluated attacks and vulnerabilities in 2021 before the rise of  AI and quantum in genomic platforms, evidence of associated risks and threats remains insufficient and required further investigation which are later investigate via 2025 by Article 2</a:t>
            </a:r>
          </a:p>
        </p:txBody>
      </p:sp>
    </p:spTree>
    <p:extLst>
      <p:ext uri="{BB962C8B-B14F-4D97-AF65-F5344CB8AC3E}">
        <p14:creationId xmlns:p14="http://schemas.microsoft.com/office/powerpoint/2010/main" val="41083541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1353A-65A7-4D68-040F-6745DC7BB4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FDA4B0-400C-A712-8396-CEDC9ADF1E88}"/>
              </a:ext>
            </a:extLst>
          </p:cNvPr>
          <p:cNvSpPr>
            <a:spLocks noGrp="1"/>
          </p:cNvSpPr>
          <p:nvPr>
            <p:ph type="title"/>
          </p:nvPr>
        </p:nvSpPr>
        <p:spPr/>
        <p:txBody>
          <a:bodyPr>
            <a:normAutofit fontScale="90000"/>
          </a:bodyPr>
          <a:lstStyle/>
          <a:p>
            <a:r>
              <a:rPr lang="en-US" dirty="0"/>
              <a:t>Article 2</a:t>
            </a:r>
            <a:br>
              <a:rPr lang="en-US" dirty="0"/>
            </a:br>
            <a:r>
              <a:rPr lang="en-US" sz="1800" dirty="0"/>
              <a:t>Genomic privacy and security in the era of artificial intelligence and quantum computing</a:t>
            </a:r>
            <a:br>
              <a:rPr lang="en-US" dirty="0"/>
            </a:br>
            <a:endParaRPr lang="en-US" dirty="0"/>
          </a:p>
        </p:txBody>
      </p:sp>
      <p:sp>
        <p:nvSpPr>
          <p:cNvPr id="3" name="Content Placeholder 2">
            <a:extLst>
              <a:ext uri="{FF2B5EF4-FFF2-40B4-BE49-F238E27FC236}">
                <a16:creationId xmlns:a16="http://schemas.microsoft.com/office/drawing/2014/main" id="{A2FB9DBD-0A3E-572B-BDF3-3EAF33FFE02A}"/>
              </a:ext>
            </a:extLst>
          </p:cNvPr>
          <p:cNvSpPr>
            <a:spLocks noGrp="1"/>
          </p:cNvSpPr>
          <p:nvPr>
            <p:ph idx="1"/>
          </p:nvPr>
        </p:nvSpPr>
        <p:spPr/>
        <p:txBody>
          <a:bodyPr/>
          <a:lstStyle/>
          <a:p>
            <a:r>
              <a:rPr lang="en-US" dirty="0"/>
              <a:t>Continued to build from AI-driven threats mapping including model inversion attacks, membership inference, and adversarial ML threats that can reidentify individuals from shared genomic data  </a:t>
            </a:r>
          </a:p>
          <a:p>
            <a:r>
              <a:rPr lang="en-US" dirty="0"/>
              <a:t>Quantum vulnerabilities affect encryption standards protecting genomic databases with a “harvest now decrypt later” risk allowing the collection of encrypted genomic data with future quantum systems</a:t>
            </a:r>
          </a:p>
          <a:p>
            <a:r>
              <a:rPr lang="en-US" dirty="0"/>
              <a:t>Proposed solution of a cross-chain genomic data interoperability framework which is a post-quantum cryptography with blockchain security for genomic data protection across institutions </a:t>
            </a:r>
          </a:p>
        </p:txBody>
      </p:sp>
    </p:spTree>
    <p:extLst>
      <p:ext uri="{BB962C8B-B14F-4D97-AF65-F5344CB8AC3E}">
        <p14:creationId xmlns:p14="http://schemas.microsoft.com/office/powerpoint/2010/main" val="27436424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B4405-221E-8929-903F-6D008730B282}"/>
              </a:ext>
            </a:extLst>
          </p:cNvPr>
          <p:cNvSpPr>
            <a:spLocks noGrp="1"/>
          </p:cNvSpPr>
          <p:nvPr>
            <p:ph type="title"/>
          </p:nvPr>
        </p:nvSpPr>
        <p:spPr/>
        <p:txBody>
          <a:bodyPr/>
          <a:lstStyle/>
          <a:p>
            <a:r>
              <a:rPr lang="en-US" dirty="0"/>
              <a:t>The evolution of threats</a:t>
            </a:r>
          </a:p>
        </p:txBody>
      </p:sp>
      <p:graphicFrame>
        <p:nvGraphicFramePr>
          <p:cNvPr id="4" name="Content Placeholder 3">
            <a:extLst>
              <a:ext uri="{FF2B5EF4-FFF2-40B4-BE49-F238E27FC236}">
                <a16:creationId xmlns:a16="http://schemas.microsoft.com/office/drawing/2014/main" id="{8441B737-AB09-1BEB-E460-6674195BC70C}"/>
              </a:ext>
            </a:extLst>
          </p:cNvPr>
          <p:cNvGraphicFramePr>
            <a:graphicFrameLocks noGrp="1"/>
          </p:cNvGraphicFramePr>
          <p:nvPr>
            <p:ph idx="1"/>
            <p:extLst>
              <p:ext uri="{D42A27DB-BD31-4B8C-83A1-F6EECF244321}">
                <p14:modId xmlns:p14="http://schemas.microsoft.com/office/powerpoint/2010/main" val="3679862682"/>
              </p:ext>
            </p:extLst>
          </p:nvPr>
        </p:nvGraphicFramePr>
        <p:xfrm>
          <a:off x="685800" y="2193925"/>
          <a:ext cx="10820400" cy="2753360"/>
        </p:xfrm>
        <a:graphic>
          <a:graphicData uri="http://schemas.openxmlformats.org/drawingml/2006/table">
            <a:tbl>
              <a:tblPr firstRow="1" bandRow="1">
                <a:tableStyleId>{21E4AEA4-8DFA-4A89-87EB-49C32662AFE0}</a:tableStyleId>
              </a:tblPr>
              <a:tblGrid>
                <a:gridCol w="3606800">
                  <a:extLst>
                    <a:ext uri="{9D8B030D-6E8A-4147-A177-3AD203B41FA5}">
                      <a16:colId xmlns:a16="http://schemas.microsoft.com/office/drawing/2014/main" val="27780836"/>
                    </a:ext>
                  </a:extLst>
                </a:gridCol>
                <a:gridCol w="3606800">
                  <a:extLst>
                    <a:ext uri="{9D8B030D-6E8A-4147-A177-3AD203B41FA5}">
                      <a16:colId xmlns:a16="http://schemas.microsoft.com/office/drawing/2014/main" val="1578822111"/>
                    </a:ext>
                  </a:extLst>
                </a:gridCol>
                <a:gridCol w="3606800">
                  <a:extLst>
                    <a:ext uri="{9D8B030D-6E8A-4147-A177-3AD203B41FA5}">
                      <a16:colId xmlns:a16="http://schemas.microsoft.com/office/drawing/2014/main" val="1154456832"/>
                    </a:ext>
                  </a:extLst>
                </a:gridCol>
              </a:tblGrid>
              <a:tr h="370840">
                <a:tc>
                  <a:txBody>
                    <a:bodyPr/>
                    <a:lstStyle/>
                    <a:p>
                      <a:r>
                        <a:rPr lang="en-US" sz="2000" dirty="0"/>
                        <a:t>Article 1: 2021</a:t>
                      </a:r>
                    </a:p>
                  </a:txBody>
                  <a:tcPr/>
                </a:tc>
                <a:tc>
                  <a:txBody>
                    <a:bodyPr/>
                    <a:lstStyle/>
                    <a:p>
                      <a:r>
                        <a:rPr lang="en-US" sz="2000" dirty="0"/>
                        <a:t>Transition / Gap</a:t>
                      </a:r>
                    </a:p>
                  </a:txBody>
                  <a:tcPr/>
                </a:tc>
                <a:tc>
                  <a:txBody>
                    <a:bodyPr/>
                    <a:lstStyle/>
                    <a:p>
                      <a:r>
                        <a:rPr lang="en-US" sz="2000" dirty="0"/>
                        <a:t>Article 2: 2025</a:t>
                      </a:r>
                    </a:p>
                  </a:txBody>
                  <a:tcPr/>
                </a:tc>
                <a:extLst>
                  <a:ext uri="{0D108BD9-81ED-4DB2-BD59-A6C34878D82A}">
                    <a16:rowId xmlns:a16="http://schemas.microsoft.com/office/drawing/2014/main" val="4256149201"/>
                  </a:ext>
                </a:extLst>
              </a:tr>
              <a:tr h="370840">
                <a:tc>
                  <a:txBody>
                    <a:bodyPr/>
                    <a:lstStyle/>
                    <a:p>
                      <a:r>
                        <a:rPr lang="en-US" sz="2000" dirty="0"/>
                        <a:t>Linkage attacks</a:t>
                      </a:r>
                    </a:p>
                    <a:p>
                      <a:r>
                        <a:rPr lang="en-US" sz="2000" dirty="0"/>
                        <a:t>Unauthorized access</a:t>
                      </a:r>
                    </a:p>
                    <a:p>
                      <a:r>
                        <a:rPr lang="en-US" sz="2000" dirty="0"/>
                        <a:t>Inadequate encryption standards</a:t>
                      </a:r>
                    </a:p>
                    <a:p>
                      <a:r>
                        <a:rPr lang="en-US" sz="2000" dirty="0"/>
                        <a:t>Weak anonymization</a:t>
                      </a:r>
                    </a:p>
                  </a:txBody>
                  <a:tcPr/>
                </a:tc>
                <a:tc>
                  <a:txBody>
                    <a:bodyPr/>
                    <a:lstStyle/>
                    <a:p>
                      <a:r>
                        <a:rPr lang="en-US" sz="2000" dirty="0"/>
                        <a:t>AI systems enter healthcare</a:t>
                      </a:r>
                    </a:p>
                    <a:p>
                      <a:r>
                        <a:rPr lang="en-US" sz="2000" dirty="0"/>
                        <a:t>Chat AI platforms</a:t>
                      </a:r>
                    </a:p>
                    <a:p>
                      <a:r>
                        <a:rPr lang="en-US" sz="2000" dirty="0"/>
                        <a:t>Cloud genomics scale</a:t>
                      </a:r>
                    </a:p>
                    <a:p>
                      <a:r>
                        <a:rPr lang="en-US" sz="2000" dirty="0"/>
                        <a:t>Quantum computing advances</a:t>
                      </a:r>
                    </a:p>
                  </a:txBody>
                  <a:tcPr/>
                </a:tc>
                <a:tc>
                  <a:txBody>
                    <a:bodyPr/>
                    <a:lstStyle/>
                    <a:p>
                      <a:r>
                        <a:rPr lang="en-US" sz="2000" dirty="0"/>
                        <a:t>Model inversion attacks</a:t>
                      </a:r>
                    </a:p>
                    <a:p>
                      <a:r>
                        <a:rPr lang="en-US" sz="2000" dirty="0"/>
                        <a:t>Harvest now, decrypt later approach</a:t>
                      </a:r>
                    </a:p>
                    <a:p>
                      <a:r>
                        <a:rPr lang="en-US" sz="2000" dirty="0"/>
                        <a:t>Cross chain vulnerabilities</a:t>
                      </a:r>
                    </a:p>
                  </a:txBody>
                  <a:tcPr/>
                </a:tc>
                <a:extLst>
                  <a:ext uri="{0D108BD9-81ED-4DB2-BD59-A6C34878D82A}">
                    <a16:rowId xmlns:a16="http://schemas.microsoft.com/office/drawing/2014/main" val="2423193521"/>
                  </a:ext>
                </a:extLst>
              </a:tr>
              <a:tr h="370840">
                <a:tc>
                  <a:txBody>
                    <a:bodyPr/>
                    <a:lstStyle/>
                    <a:p>
                      <a:endParaRPr lang="en-US" dirty="0"/>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871612793"/>
                  </a:ext>
                </a:extLst>
              </a:tr>
              <a:tr h="370840">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198663831"/>
                  </a:ext>
                </a:extLst>
              </a:tr>
            </a:tbl>
          </a:graphicData>
        </a:graphic>
      </p:graphicFrame>
    </p:spTree>
    <p:extLst>
      <p:ext uri="{BB962C8B-B14F-4D97-AF65-F5344CB8AC3E}">
        <p14:creationId xmlns:p14="http://schemas.microsoft.com/office/powerpoint/2010/main" val="31705896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71703-6C0C-7192-1AD4-CBA968D9B755}"/>
              </a:ext>
            </a:extLst>
          </p:cNvPr>
          <p:cNvSpPr>
            <a:spLocks noGrp="1"/>
          </p:cNvSpPr>
          <p:nvPr>
            <p:ph type="title"/>
          </p:nvPr>
        </p:nvSpPr>
        <p:spPr/>
        <p:txBody>
          <a:bodyPr/>
          <a:lstStyle/>
          <a:p>
            <a:r>
              <a:rPr lang="en-US" dirty="0"/>
              <a:t>Ai &amp; quantum threats to healthcare data</a:t>
            </a:r>
          </a:p>
        </p:txBody>
      </p:sp>
      <p:sp>
        <p:nvSpPr>
          <p:cNvPr id="3" name="Content Placeholder 2">
            <a:extLst>
              <a:ext uri="{FF2B5EF4-FFF2-40B4-BE49-F238E27FC236}">
                <a16:creationId xmlns:a16="http://schemas.microsoft.com/office/drawing/2014/main" id="{130BF669-1830-C876-1218-B1A92BA04CC6}"/>
              </a:ext>
            </a:extLst>
          </p:cNvPr>
          <p:cNvSpPr>
            <a:spLocks noGrp="1"/>
          </p:cNvSpPr>
          <p:nvPr>
            <p:ph idx="1"/>
          </p:nvPr>
        </p:nvSpPr>
        <p:spPr/>
        <p:txBody>
          <a:bodyPr/>
          <a:lstStyle/>
          <a:p>
            <a:r>
              <a:rPr lang="en-US" dirty="0"/>
              <a:t>Model inversion attacks involve adversaries querying AI diagnostic models to reverse engineer and reconstruct patients’ genetic data</a:t>
            </a:r>
          </a:p>
          <a:p>
            <a:r>
              <a:rPr lang="en-US" dirty="0"/>
              <a:t>Adversarial ML manipulation involves delicate data that can mislead AI diagnostics, risking patient safety and clinical decisions</a:t>
            </a:r>
          </a:p>
          <a:p>
            <a:r>
              <a:rPr lang="en-US" dirty="0"/>
              <a:t>Membership inference allows AI to identify information about the usage of an individual’s genomic data risking unauthorized disclosure of research patients</a:t>
            </a:r>
          </a:p>
        </p:txBody>
      </p:sp>
    </p:spTree>
    <p:extLst>
      <p:ext uri="{BB962C8B-B14F-4D97-AF65-F5344CB8AC3E}">
        <p14:creationId xmlns:p14="http://schemas.microsoft.com/office/powerpoint/2010/main" val="23885261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68E2B-A362-3A52-66E5-6C2EFC30AE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247A59-3413-02AA-3AB4-302236F563DD}"/>
              </a:ext>
            </a:extLst>
          </p:cNvPr>
          <p:cNvSpPr>
            <a:spLocks noGrp="1"/>
          </p:cNvSpPr>
          <p:nvPr>
            <p:ph type="title"/>
          </p:nvPr>
        </p:nvSpPr>
        <p:spPr/>
        <p:txBody>
          <a:bodyPr/>
          <a:lstStyle/>
          <a:p>
            <a:r>
              <a:rPr lang="en-US" dirty="0"/>
              <a:t>Continue…</a:t>
            </a:r>
          </a:p>
        </p:txBody>
      </p:sp>
      <p:sp>
        <p:nvSpPr>
          <p:cNvPr id="3" name="Content Placeholder 2">
            <a:extLst>
              <a:ext uri="{FF2B5EF4-FFF2-40B4-BE49-F238E27FC236}">
                <a16:creationId xmlns:a16="http://schemas.microsoft.com/office/drawing/2014/main" id="{F5172D98-CC8E-B1F5-45AE-86E6BEE67DEF}"/>
              </a:ext>
            </a:extLst>
          </p:cNvPr>
          <p:cNvSpPr>
            <a:spLocks noGrp="1"/>
          </p:cNvSpPr>
          <p:nvPr>
            <p:ph idx="1"/>
          </p:nvPr>
        </p:nvSpPr>
        <p:spPr/>
        <p:txBody>
          <a:bodyPr/>
          <a:lstStyle/>
          <a:p>
            <a:r>
              <a:rPr lang="en-US" dirty="0"/>
              <a:t>“Harvest now, decrypt later” tactic store encrypted healthcare data waiting for quantum computing to break current encryption and expose sensitive information</a:t>
            </a:r>
          </a:p>
          <a:p>
            <a:r>
              <a:rPr lang="en-US" dirty="0"/>
              <a:t>Genomic data is increasing shared across institutions creating interoperability vulnerabilities without a cross-chain governance to limit access control</a:t>
            </a:r>
          </a:p>
        </p:txBody>
      </p:sp>
    </p:spTree>
    <p:extLst>
      <p:ext uri="{BB962C8B-B14F-4D97-AF65-F5344CB8AC3E}">
        <p14:creationId xmlns:p14="http://schemas.microsoft.com/office/powerpoint/2010/main" val="29860732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DC6E9-61FC-DA3E-4A51-C4F6D1B87C88}"/>
              </a:ext>
            </a:extLst>
          </p:cNvPr>
          <p:cNvSpPr>
            <a:spLocks noGrp="1"/>
          </p:cNvSpPr>
          <p:nvPr>
            <p:ph type="title"/>
          </p:nvPr>
        </p:nvSpPr>
        <p:spPr/>
        <p:txBody>
          <a:bodyPr/>
          <a:lstStyle/>
          <a:p>
            <a:r>
              <a:rPr lang="en-US" dirty="0"/>
              <a:t>The relationship Among these sources</a:t>
            </a:r>
          </a:p>
        </p:txBody>
      </p:sp>
      <p:sp>
        <p:nvSpPr>
          <p:cNvPr id="3" name="Content Placeholder 2">
            <a:extLst>
              <a:ext uri="{FF2B5EF4-FFF2-40B4-BE49-F238E27FC236}">
                <a16:creationId xmlns:a16="http://schemas.microsoft.com/office/drawing/2014/main" id="{834DBD27-41CB-BDC2-516F-D039CA6A91C1}"/>
              </a:ext>
            </a:extLst>
          </p:cNvPr>
          <p:cNvSpPr>
            <a:spLocks noGrp="1"/>
          </p:cNvSpPr>
          <p:nvPr>
            <p:ph idx="1"/>
          </p:nvPr>
        </p:nvSpPr>
        <p:spPr/>
        <p:txBody>
          <a:bodyPr/>
          <a:lstStyle/>
          <a:p>
            <a:r>
              <a:rPr lang="en-US" dirty="0"/>
              <a:t>These two papers together make an indispensable paired argument that the structural vulnerabilities of genomic data aren’t hypothetical and have been technically documented and historically systematically mapped lacking accountability and protection by current systems</a:t>
            </a:r>
          </a:p>
          <a:p>
            <a:r>
              <a:rPr lang="en-US" dirty="0"/>
              <a:t>AI and quantum computing in healthcare has multiplied vulnerabilities not solved them becoming a new attack surface</a:t>
            </a:r>
          </a:p>
          <a:p>
            <a:r>
              <a:rPr lang="en-US" dirty="0"/>
              <a:t>Article 1 established risks and vulnerabilities before AI entered healthcare platforms and article 2 reflect the effects and impact of those vulnerabilities when AI is added</a:t>
            </a:r>
          </a:p>
          <a:p>
            <a:pPr marL="0" indent="0">
              <a:buNone/>
            </a:pPr>
            <a:endParaRPr lang="en-US" dirty="0"/>
          </a:p>
        </p:txBody>
      </p:sp>
    </p:spTree>
    <p:extLst>
      <p:ext uri="{BB962C8B-B14F-4D97-AF65-F5344CB8AC3E}">
        <p14:creationId xmlns:p14="http://schemas.microsoft.com/office/powerpoint/2010/main" val="24139981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45C71-31C9-3947-9C4B-42D3404CB4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DE71A8-597E-30AE-8A82-908D5BFE60EF}"/>
              </a:ext>
            </a:extLst>
          </p:cNvPr>
          <p:cNvSpPr>
            <a:spLocks noGrp="1"/>
          </p:cNvSpPr>
          <p:nvPr>
            <p:ph type="title"/>
          </p:nvPr>
        </p:nvSpPr>
        <p:spPr/>
        <p:txBody>
          <a:bodyPr/>
          <a:lstStyle/>
          <a:p>
            <a:r>
              <a:rPr lang="en-US" dirty="0"/>
              <a:t>Continue…</a:t>
            </a:r>
          </a:p>
        </p:txBody>
      </p:sp>
      <p:sp>
        <p:nvSpPr>
          <p:cNvPr id="3" name="Content Placeholder 2">
            <a:extLst>
              <a:ext uri="{FF2B5EF4-FFF2-40B4-BE49-F238E27FC236}">
                <a16:creationId xmlns:a16="http://schemas.microsoft.com/office/drawing/2014/main" id="{CC41C38D-4996-CC5F-8736-093F212B7895}"/>
              </a:ext>
            </a:extLst>
          </p:cNvPr>
          <p:cNvSpPr>
            <a:spLocks noGrp="1"/>
          </p:cNvSpPr>
          <p:nvPr>
            <p:ph idx="1"/>
          </p:nvPr>
        </p:nvSpPr>
        <p:spPr/>
        <p:txBody>
          <a:bodyPr/>
          <a:lstStyle/>
          <a:p>
            <a:r>
              <a:rPr lang="en-US" dirty="0"/>
              <a:t>Both papers ethically identify the implications of AI and quantum computing in the collection and storing of genomic data under consented agreements written before AI existed which later subjected to AI re-identification and membership inference attacks that patients never consented to</a:t>
            </a:r>
          </a:p>
          <a:p>
            <a:r>
              <a:rPr lang="en-US" dirty="0"/>
              <a:t>From building on pre-AI healthcare foundations, establishing a baseline that’s later validated and developing a cross-chain post quantum cryptography to build a governance for genomic data privacy and security </a:t>
            </a:r>
          </a:p>
        </p:txBody>
      </p:sp>
    </p:spTree>
    <p:extLst>
      <p:ext uri="{BB962C8B-B14F-4D97-AF65-F5344CB8AC3E}">
        <p14:creationId xmlns:p14="http://schemas.microsoft.com/office/powerpoint/2010/main" val="21015003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110B6-13BC-F834-01D3-213E3CAC8CF2}"/>
              </a:ext>
            </a:extLst>
          </p:cNvPr>
          <p:cNvSpPr>
            <a:spLocks noGrp="1"/>
          </p:cNvSpPr>
          <p:nvPr>
            <p:ph type="title"/>
          </p:nvPr>
        </p:nvSpPr>
        <p:spPr/>
        <p:txBody>
          <a:bodyPr/>
          <a:lstStyle/>
          <a:p>
            <a:r>
              <a:rPr lang="en-US" dirty="0"/>
              <a:t>Questions, comments, and concerns</a:t>
            </a:r>
          </a:p>
        </p:txBody>
      </p:sp>
    </p:spTree>
    <p:extLst>
      <p:ext uri="{BB962C8B-B14F-4D97-AF65-F5344CB8AC3E}">
        <p14:creationId xmlns:p14="http://schemas.microsoft.com/office/powerpoint/2010/main" val="1039740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FCD73-E4A1-3842-54F6-42CEA08204E7}"/>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8BEAF8CC-EAE9-23A0-EF6C-59F1107F23FE}"/>
              </a:ext>
            </a:extLst>
          </p:cNvPr>
          <p:cNvSpPr>
            <a:spLocks noGrp="1"/>
          </p:cNvSpPr>
          <p:nvPr>
            <p:ph idx="1"/>
          </p:nvPr>
        </p:nvSpPr>
        <p:spPr/>
        <p:txBody>
          <a:bodyPr/>
          <a:lstStyle/>
          <a:p>
            <a:r>
              <a:rPr lang="en-US" dirty="0"/>
              <a:t>Arshad, S., Arshad, J., Khan, M. M., Parkinson, S. "Analysis of Security and Privacy Challenges for DNA-Genomics Applications and Databases." Journal of Biomedical Informatics, vol. 119, 2021, p. 103815. ScienceDirect, doi:10.1016/j.jbi.2021.103815.</a:t>
            </a:r>
          </a:p>
          <a:p>
            <a:r>
              <a:rPr lang="en-US" dirty="0"/>
              <a:t>Annan, R. K., Noland, J., Perkins, K.,  Xiaohong, Y., Kaushik, R., Qingge, L. "Genomic Privacy and Security in the Era of Artificial Intelligence and Quantum Computing." Discover Computing, vol. 28, 2025. Springer Nature, doi:10.1007/s10791-025-09627-w.</a:t>
            </a:r>
          </a:p>
        </p:txBody>
      </p:sp>
    </p:spTree>
    <p:extLst>
      <p:ext uri="{BB962C8B-B14F-4D97-AF65-F5344CB8AC3E}">
        <p14:creationId xmlns:p14="http://schemas.microsoft.com/office/powerpoint/2010/main" val="4082222893"/>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01D17D"/>
      </a:accent1>
      <a:accent2>
        <a:srgbClr val="84C72A"/>
      </a:accent2>
      <a:accent3>
        <a:srgbClr val="E1D126"/>
      </a:accent3>
      <a:accent4>
        <a:srgbClr val="E29932"/>
      </a:accent4>
      <a:accent5>
        <a:srgbClr val="E56526"/>
      </a:accent5>
      <a:accent6>
        <a:srgbClr val="D63731"/>
      </a:accent6>
      <a:hlink>
        <a:srgbClr val="35FA7F"/>
      </a:hlink>
      <a:folHlink>
        <a:srgbClr val="BAFC85"/>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2B2A868B-6BC2-4B3E-98B9-1258F41035DE}"/>
    </a:ext>
  </a:extLst>
</a:theme>
</file>

<file path=docProps/app.xml><?xml version="1.0" encoding="utf-8"?>
<Properties xmlns="http://schemas.openxmlformats.org/officeDocument/2006/extended-properties" xmlns:vt="http://schemas.openxmlformats.org/officeDocument/2006/docPropsVTypes">
  <Template>TM04033937[[fn=Vapor Trail]]</Template>
  <TotalTime>139</TotalTime>
  <Words>740</Words>
  <Application>Microsoft Office PowerPoint</Application>
  <PresentationFormat>Widescreen</PresentationFormat>
  <Paragraphs>49</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Cambria</vt:lpstr>
      <vt:lpstr>Vapor Trail</vt:lpstr>
      <vt:lpstr>AI in Healthcare: Genomic privacy &amp; Security</vt:lpstr>
      <vt:lpstr>Why These two sources</vt:lpstr>
      <vt:lpstr>Article 1 Analysis of Security and Privacy Challenges for DNA Genomics Applications and databases  </vt:lpstr>
      <vt:lpstr>Article 2 Genomic privacy and security in the era of artificial intelligence and quantum computing </vt:lpstr>
      <vt:lpstr>The evolution of threats</vt:lpstr>
      <vt:lpstr>Ai &amp; quantum threats to healthcare data</vt:lpstr>
      <vt:lpstr>Continue…</vt:lpstr>
      <vt:lpstr>The relationship Among these sources</vt:lpstr>
      <vt:lpstr>Continue…</vt:lpstr>
      <vt:lpstr>Questions, comments, and concerns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BLANKET CLIQ</dc:creator>
  <cp:lastModifiedBy>BLANKET CLIQ</cp:lastModifiedBy>
  <cp:revision>28</cp:revision>
  <dcterms:created xsi:type="dcterms:W3CDTF">2026-03-23T15:56:13Z</dcterms:created>
  <dcterms:modified xsi:type="dcterms:W3CDTF">2026-03-23T22:09:55Z</dcterms:modified>
</cp:coreProperties>
</file>