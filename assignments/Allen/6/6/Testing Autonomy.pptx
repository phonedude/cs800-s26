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643f99f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643f99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9643f99f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9643f99f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643f99f3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9643f99f3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643f99f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9643f99f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9643f99f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9643f99f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643f99f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643f99f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643f99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643f99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643f99f3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643f99f3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643f99f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643f99f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9643f99f3_0_2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9643f99f3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643f99f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9643f99f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643f99f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9643f99f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643f99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9643f99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9643f99f3_0_2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9643f99f3_0_2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9643f99f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9643f99f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9643f99f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9643f99f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9643f99f3_0_2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9643f99f3_0_2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9643f99f3_0_2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9643f99f3_0_2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9643f99f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9643f99f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9643f99f3_0_2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9643f99f3_0_2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9643f99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9643f99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9643f99f3_0_2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9643f99f3_0_2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663225"/>
            <a:ext cx="23979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CS 800 Research Methods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6434400" y="4663225"/>
            <a:ext cx="23979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Spring 2026</a:t>
            </a:r>
            <a:endParaRPr sz="9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lulu-allen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digitalcommons.odu.edu/ece_etds/60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digitalcommons.odu.edu/ece_etds/606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igitalcommons.odu.edu/ece_etds/606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hyperlink" Target="https://digitalcommons.odu.edu/ece_etds/606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digitalcommons.odu.edu/ece_etds/606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igitalcommons.odu.edu/ece_etds/6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77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Testing Autonomy: Hybrid Scenario Synthesis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1886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Benjamin E. Hargis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ODU Dissertation: Spring 2025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1629131"/>
            <a:ext cx="85206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941650" y="2982712"/>
            <a:ext cx="3260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https://www.linkedin.com/in/lulu-allen/</a:t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11700" y="3635916"/>
            <a:ext cx="8520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Lulu Allen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CS 800 - Research Methods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As</a:t>
            </a:r>
            <a:r>
              <a:rPr lang="en"/>
              <a:t>s</a:t>
            </a:r>
            <a:r>
              <a:rPr lang="en">
                <a:solidFill>
                  <a:srgbClr val="000000"/>
                </a:solidFill>
              </a:rPr>
              <a:t>ignment </a:t>
            </a:r>
            <a:r>
              <a:rPr lang="en"/>
              <a:t>6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15</a:t>
            </a:r>
            <a:r>
              <a:rPr lang="en">
                <a:solidFill>
                  <a:srgbClr val="000000"/>
                </a:solidFill>
              </a:rPr>
              <a:t>, 2026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311700" y="3326543"/>
            <a:ext cx="85206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endParaRPr sz="1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Published</a:t>
            </a:r>
            <a:endParaRPr/>
          </a:p>
        </p:txBody>
      </p:sp>
      <p:pic>
        <p:nvPicPr>
          <p:cNvPr id="67" name="Google Shape;67;p14" title="Dissertation Screenshot.png"/>
          <p:cNvPicPr preferRelativeResize="0"/>
          <p:nvPr/>
        </p:nvPicPr>
        <p:blipFill rotWithShape="1">
          <a:blip r:embed="rId3">
            <a:alphaModFix/>
          </a:blip>
          <a:srcRect b="8088" l="12771" r="9214" t="0"/>
          <a:stretch/>
        </p:blipFill>
        <p:spPr>
          <a:xfrm>
            <a:off x="4763910" y="1152475"/>
            <a:ext cx="2975540" cy="3404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4" title="Screenshot 2026-04-27 at 4.11.00 PM.png"/>
          <p:cNvPicPr preferRelativeResize="0"/>
          <p:nvPr/>
        </p:nvPicPr>
        <p:blipFill rotWithShape="1">
          <a:blip r:embed="rId4">
            <a:alphaModFix/>
          </a:blip>
          <a:srcRect b="0" l="5308" r="5478" t="0"/>
          <a:stretch/>
        </p:blipFill>
        <p:spPr>
          <a:xfrm>
            <a:off x="1469575" y="1152475"/>
            <a:ext cx="2761774" cy="3404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421800" y="3007355"/>
            <a:ext cx="23004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9FC5E8"/>
                </a:highlight>
              </a:rPr>
              <a:t>Dissertation</a:t>
            </a:r>
            <a:endParaRPr sz="20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Autonomous systems like ASV’s, UAVs, self-driving cars has increased in safety-critical domains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Static Simulation (single event) offer snapshot </a:t>
            </a:r>
            <a:r>
              <a:rPr lang="en" sz="1600">
                <a:solidFill>
                  <a:schemeClr val="dk1"/>
                </a:solidFill>
              </a:rPr>
              <a:t>evaluations</a:t>
            </a:r>
            <a:r>
              <a:rPr lang="en" sz="1600">
                <a:solidFill>
                  <a:schemeClr val="dk1"/>
                </a:solidFill>
              </a:rPr>
              <a:t> but miss evolving and has limited coverage in real-world dynamics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key failure is the unpredictable SUT behavior can invalidate a designed test sequence mid-run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Parameterized at a single instant in time not over a duration which makes it hard to track intruders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Intruder Trajectory</a:t>
            </a:r>
            <a:endParaRPr/>
          </a:p>
        </p:txBody>
      </p:sp>
      <p:pic>
        <p:nvPicPr>
          <p:cNvPr id="81" name="Google Shape;81;p16" title="Screenshot 2026-04-27 at 3.39.54 PM.png"/>
          <p:cNvPicPr preferRelativeResize="0"/>
          <p:nvPr/>
        </p:nvPicPr>
        <p:blipFill rotWithShape="1">
          <a:blip r:embed="rId3">
            <a:alphaModFix/>
          </a:blip>
          <a:srcRect b="14749" l="0" r="0" t="0"/>
          <a:stretch/>
        </p:blipFill>
        <p:spPr>
          <a:xfrm>
            <a:off x="847600" y="1134173"/>
            <a:ext cx="7448801" cy="24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1797600" y="3699268"/>
            <a:ext cx="5548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35. “Intruder Speed Over Time” </a:t>
            </a:r>
            <a:r>
              <a:rPr lang="en" sz="10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Work: Coverage-Based Testing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Tahir &amp; Alexander (2022) </a:t>
            </a:r>
            <a:r>
              <a:rPr lang="en" sz="1600">
                <a:solidFill>
                  <a:schemeClr val="dk1"/>
                </a:solidFill>
              </a:rPr>
              <a:t>- Adaptive sampling near performance transitions limited to highly controlled initial conditions affecting performance boundaries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Bolbot et al., (2022) Stanjiewicz &amp; Mullins (2019) - Parameterize interactions at a single instant making tests </a:t>
            </a:r>
            <a:r>
              <a:rPr lang="en" sz="1600">
                <a:solidFill>
                  <a:schemeClr val="dk1"/>
                </a:solidFill>
              </a:rPr>
              <a:t>vulnerable</a:t>
            </a:r>
            <a:r>
              <a:rPr lang="en" sz="1600">
                <a:solidFill>
                  <a:schemeClr val="dk1"/>
                </a:solidFill>
              </a:rPr>
              <a:t> to SUT deviation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Key gap across all related work reveal no time horizon stimulus is not being sustained so if SUT deviates early, the designed test is invalidated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UcPeriod"/>
            </a:pPr>
            <a:r>
              <a:rPr lang="en" sz="1600">
                <a:solidFill>
                  <a:schemeClr val="dk1"/>
                </a:solidFill>
              </a:rPr>
              <a:t>How can interaction stimuli be temporally parameterized to reflect the evolving complexity of autonomous encounters?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UcPeriod"/>
            </a:pPr>
            <a:r>
              <a:rPr lang="en" sz="1600">
                <a:solidFill>
                  <a:schemeClr val="dk1"/>
                </a:solidFill>
              </a:rPr>
              <a:t>How can the difficulty of interactions be pre-quantified to filter trivial test cases?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UcPeriod"/>
            </a:pPr>
            <a:r>
              <a:rPr lang="en" sz="1600">
                <a:solidFill>
                  <a:schemeClr val="dk1"/>
                </a:solidFill>
              </a:rPr>
              <a:t>How can a testing framework produce scenarios that are both static and adaptive to unpredictable system behaviors?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UcPeriod"/>
            </a:pPr>
            <a:r>
              <a:rPr lang="en" sz="1600">
                <a:solidFill>
                  <a:schemeClr val="dk1"/>
                </a:solidFill>
              </a:rPr>
              <a:t>What practical challenges aise from sensor noise and kinematic limitations, and what strategies can be employed to address them?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RQ1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Interaction Model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Deterministic Interaction Synthesis Algorithm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Noise Mitigation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Avoidability Analysis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Interceptablilty Metric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530700" y="3217850"/>
            <a:ext cx="8082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>
                <a:solidFill>
                  <a:schemeClr val="accent3"/>
                </a:solidFill>
              </a:rPr>
              <a:t>How can interaction stimuli be temporally parameterized to reflect the evolving complexity of autonomous encounters?</a:t>
            </a:r>
            <a:endParaRPr sz="1200">
              <a:solidFill>
                <a:schemeClr val="accent3"/>
              </a:solidFill>
            </a:endParaRPr>
          </a:p>
        </p:txBody>
      </p:sp>
      <p:cxnSp>
        <p:nvCxnSpPr>
          <p:cNvPr id="102" name="Google Shape;102;p19"/>
          <p:cNvCxnSpPr/>
          <p:nvPr/>
        </p:nvCxnSpPr>
        <p:spPr>
          <a:xfrm rot="10800000">
            <a:off x="2622500" y="2508350"/>
            <a:ext cx="620700" cy="70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Model Design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c</a:t>
            </a:r>
            <a:r>
              <a:rPr lang="en" sz="1600">
                <a:solidFill>
                  <a:schemeClr val="dk1"/>
                </a:solidFill>
              </a:rPr>
              <a:t>ore of the work define by a six-parameter, time-dependent interaction model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DDCPA </a:t>
            </a:r>
            <a:r>
              <a:rPr lang="en" sz="1600">
                <a:solidFill>
                  <a:schemeClr val="dk1"/>
                </a:solidFill>
              </a:rPr>
              <a:t>(Desired Distance to Closest Point of Approach): the minimum spatial separation between the SUT and an intruder vessel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Desired Start Time:</a:t>
            </a:r>
            <a:r>
              <a:rPr lang="en" sz="1600">
                <a:solidFill>
                  <a:schemeClr val="dk1"/>
                </a:solidFill>
              </a:rPr>
              <a:t> beginning of interaction timeline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Desired Event Time: </a:t>
            </a:r>
            <a:r>
              <a:rPr lang="en" sz="1600">
                <a:solidFill>
                  <a:schemeClr val="dk1"/>
                </a:solidFill>
              </a:rPr>
              <a:t>bounding the interaction timeline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SUT State: </a:t>
            </a:r>
            <a:r>
              <a:rPr lang="en" sz="1600">
                <a:solidFill>
                  <a:schemeClr val="dk1"/>
                </a:solidFill>
              </a:rPr>
              <a:t>position, heading, and speed retrieved in real-time from the simulation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Relative Intruder Speed:</a:t>
            </a:r>
            <a:r>
              <a:rPr lang="en" sz="1600">
                <a:solidFill>
                  <a:schemeClr val="dk1"/>
                </a:solidFill>
              </a:rPr>
              <a:t> respect to the SUT frame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i="1" lang="en" sz="1600">
                <a:solidFill>
                  <a:schemeClr val="dk1"/>
                </a:solidFill>
              </a:rPr>
              <a:t>Heading Difference: </a:t>
            </a:r>
            <a:r>
              <a:rPr lang="en" sz="1600">
                <a:solidFill>
                  <a:schemeClr val="dk1"/>
                </a:solidFill>
              </a:rPr>
              <a:t>angular offset between SUT and intruder trajectories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Deterministic Interaction Synthesis Algorithm</a:t>
            </a:r>
            <a:endParaRPr sz="2500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9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principles of relative motion and affine coordinate transformation define by three phrases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115" name="Google Shape;115;p21"/>
          <p:cNvGrpSpPr/>
          <p:nvPr/>
        </p:nvGrpSpPr>
        <p:grpSpPr>
          <a:xfrm>
            <a:off x="6038025" y="3196691"/>
            <a:ext cx="2469661" cy="1384500"/>
            <a:chOff x="6038025" y="2598925"/>
            <a:chExt cx="2469661" cy="1384500"/>
          </a:xfrm>
        </p:grpSpPr>
        <p:cxnSp>
          <p:nvCxnSpPr>
            <p:cNvPr id="116" name="Google Shape;116;p21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1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>
                  <a:solidFill>
                    <a:schemeClr val="dk1"/>
                  </a:solidFill>
                </a:rPr>
                <a:t>Post-Event Phase</a:t>
              </a:r>
              <a:r>
                <a:rPr b="1" lang="en" sz="1200">
                  <a:solidFill>
                    <a:schemeClr val="dk1"/>
                  </a:solidFill>
                </a:rPr>
                <a:t> (after event)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The intruder keeps its heading and speed or returns to normal traffic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1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21"/>
          <p:cNvGrpSpPr/>
          <p:nvPr/>
        </p:nvGrpSpPr>
        <p:grpSpPr>
          <a:xfrm>
            <a:off x="636321" y="2272166"/>
            <a:ext cx="2994729" cy="1384500"/>
            <a:chOff x="636321" y="1844098"/>
            <a:chExt cx="2994729" cy="1384500"/>
          </a:xfrm>
        </p:grpSpPr>
        <p:sp>
          <p:nvSpPr>
            <p:cNvPr id="121" name="Google Shape;121;p21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>
                  <a:solidFill>
                    <a:schemeClr val="dk1"/>
                  </a:solidFill>
                </a:rPr>
                <a:t>Implementation Phase</a:t>
              </a:r>
              <a:r>
                <a:rPr b="1" lang="en" sz="1200">
                  <a:solidFill>
                    <a:schemeClr val="dk1"/>
                  </a:solidFill>
                </a:rPr>
                <a:t> (start to event)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Transforms the path into world coordinates using the current SUT state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2" name="Google Shape;122;p21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1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1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21"/>
          <p:cNvGrpSpPr/>
          <p:nvPr/>
        </p:nvGrpSpPr>
        <p:grpSpPr>
          <a:xfrm>
            <a:off x="4680075" y="1547976"/>
            <a:ext cx="3599586" cy="1384500"/>
            <a:chOff x="4908100" y="889950"/>
            <a:chExt cx="3599586" cy="1384500"/>
          </a:xfrm>
        </p:grpSpPr>
        <p:cxnSp>
          <p:nvCxnSpPr>
            <p:cNvPr id="126" name="Google Shape;126;p21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" name="Google Shape;127;p21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200">
                  <a:solidFill>
                    <a:schemeClr val="dk1"/>
                  </a:solidFill>
                </a:rPr>
                <a:t>Orchestration Phase </a:t>
              </a:r>
              <a:r>
                <a:rPr b="1" lang="en" sz="1200">
                  <a:solidFill>
                    <a:schemeClr val="dk1"/>
                  </a:solidFill>
                </a:rPr>
                <a:t>(before start)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Calculates the intruder’s path in the SUT’s frame based on the tangent circle at DCPA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21"/>
          <p:cNvGrpSpPr/>
          <p:nvPr/>
        </p:nvGrpSpPr>
        <p:grpSpPr>
          <a:xfrm>
            <a:off x="2814594" y="1553838"/>
            <a:ext cx="3514811" cy="3252003"/>
            <a:chOff x="2991269" y="1153325"/>
            <a:chExt cx="3514811" cy="3252003"/>
          </a:xfrm>
        </p:grpSpPr>
        <p:sp>
          <p:nvSpPr>
            <p:cNvPr id="131" name="Google Shape;131;p21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2" name="Google Shape;132;p21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3" name="Google Shape;133;p21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9325A5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4" name="Google Shape;134;p21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5" name="Google Shape;135;p21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6" name="Google Shape;136;p21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71E86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7" name="Google Shape;137;p21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8" name="Google Shape;138;p21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139" name="Google Shape;139;p21"/>
          <p:cNvSpPr txBox="1"/>
          <p:nvPr/>
        </p:nvSpPr>
        <p:spPr>
          <a:xfrm>
            <a:off x="311700" y="3825975"/>
            <a:ext cx="24696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1. Dissertation Review by Lulu Allen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Noise Analysis</a:t>
            </a:r>
            <a:endParaRPr sz="2500"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Problem: </a:t>
            </a:r>
            <a:endParaRPr i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Sensor noise causes small heading oscillations in the SUT, leading to erratic intruder trajectory deviations, especially at short ranges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Mitigation: </a:t>
            </a:r>
            <a:endParaRPr i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Apply a windowed running average of the SUT heading using vector-component averaging to handle circular heading values.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Trade-off: </a:t>
            </a:r>
            <a:endParaRPr i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Larger windows better smooth noise but delay the system's response to real SUT heading changes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RQ2</a:t>
            </a:r>
            <a:endParaRPr sz="2500"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600">
                <a:solidFill>
                  <a:schemeClr val="dk1"/>
                </a:solidFill>
              </a:rPr>
              <a:t>Avoidability:</a:t>
            </a:r>
            <a:r>
              <a:rPr lang="en" sz="1600">
                <a:solidFill>
                  <a:schemeClr val="dk1"/>
                </a:solidFill>
              </a:rPr>
              <a:t> Uses a formula to check if the SUT can avoid the intruder before running the scenario, flagging impossible cases early.  </a:t>
            </a:r>
            <a:endParaRPr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600">
                <a:solidFill>
                  <a:schemeClr val="dk1"/>
                </a:solidFill>
              </a:rPr>
              <a:t>Interceptability: </a:t>
            </a:r>
            <a:r>
              <a:rPr lang="en" sz="1600">
                <a:solidFill>
                  <a:schemeClr val="dk1"/>
                </a:solidFill>
              </a:rPr>
              <a:t>Gives a score from 0 to 1 showing how easy it is for the intruder to intercept, so simple tests can be skipped.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505350" y="3129175"/>
            <a:ext cx="813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>
                <a:solidFill>
                  <a:schemeClr val="accent3"/>
                </a:solidFill>
              </a:rPr>
              <a:t>How can the difficulty of interactions be pre-quantified to filter trivial test cases?</a:t>
            </a:r>
            <a:endParaRPr sz="1200">
              <a:solidFill>
                <a:schemeClr val="accent3"/>
              </a:solidFill>
            </a:endParaRPr>
          </a:p>
        </p:txBody>
      </p:sp>
      <p:cxnSp>
        <p:nvCxnSpPr>
          <p:cNvPr id="153" name="Google Shape;153;p23"/>
          <p:cNvCxnSpPr/>
          <p:nvPr/>
        </p:nvCxnSpPr>
        <p:spPr>
          <a:xfrm rot="10800000">
            <a:off x="3762625" y="2432575"/>
            <a:ext cx="443400" cy="69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Avoidability Analysis</a:t>
            </a:r>
            <a:endParaRPr sz="2500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Determines if a kinematically reachable path ensures sufficient separation from the intruder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intruder’s position is outside of SUT’s reachable path, avoidance is guarantee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Derives numerical and analytic solutions for the kinematic envelope based on yaw rate, speed, and time horizon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Finds that the angular boundary of the kinematic envelope is defined by the analytic solution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Interceptablilty Metric</a:t>
            </a:r>
            <a:endParaRPr sz="2500"/>
          </a:p>
        </p:txBody>
      </p:sp>
      <p:grpSp>
        <p:nvGrpSpPr>
          <p:cNvPr id="165" name="Google Shape;165;p25"/>
          <p:cNvGrpSpPr/>
          <p:nvPr/>
        </p:nvGrpSpPr>
        <p:grpSpPr>
          <a:xfrm>
            <a:off x="2688745" y="732019"/>
            <a:ext cx="3768522" cy="3774409"/>
            <a:chOff x="2675582" y="676586"/>
            <a:chExt cx="3793942" cy="3790328"/>
          </a:xfrm>
        </p:grpSpPr>
        <p:sp>
          <p:nvSpPr>
            <p:cNvPr id="166" name="Google Shape;166;p25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5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25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171" name="Google Shape;171;p2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A7291E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A729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174" name="Google Shape;174;p2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B02B20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B02B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177" name="Google Shape;177;p2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BE2F22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BE2F2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" name="Google Shape;179;p25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25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25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2" name="Google Shape;182;p25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183" name="Google Shape;183;p25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801F17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801F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25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" name="Google Shape;186;p25"/>
          <p:cNvGrpSpPr/>
          <p:nvPr/>
        </p:nvGrpSpPr>
        <p:grpSpPr>
          <a:xfrm>
            <a:off x="323500" y="1170475"/>
            <a:ext cx="3362713" cy="1289700"/>
            <a:chOff x="323500" y="1170475"/>
            <a:chExt cx="3362713" cy="1289700"/>
          </a:xfrm>
        </p:grpSpPr>
        <p:sp>
          <p:nvSpPr>
            <p:cNvPr id="187" name="Google Shape;187;p25"/>
            <p:cNvSpPr txBox="1"/>
            <p:nvPr/>
          </p:nvSpPr>
          <p:spPr>
            <a:xfrm>
              <a:off x="323500" y="1170475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SUT Kinematic Path</a:t>
              </a:r>
              <a:endParaRPr b="1" sz="1200"/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/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/>
                <a:t>Map all positions reachable by SUT within time horizon</a:t>
              </a:r>
              <a:endParaRPr b="1" sz="1000"/>
            </a:p>
          </p:txBody>
        </p:sp>
        <p:cxnSp>
          <p:nvCxnSpPr>
            <p:cNvPr id="188" name="Google Shape;188;p25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cap="flat" cmpd="sng" w="9525">
              <a:solidFill>
                <a:srgbClr val="BE2F2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89" name="Google Shape;189;p25"/>
          <p:cNvGrpSpPr/>
          <p:nvPr/>
        </p:nvGrpSpPr>
        <p:grpSpPr>
          <a:xfrm>
            <a:off x="323500" y="2828275"/>
            <a:ext cx="3629413" cy="1289700"/>
            <a:chOff x="323500" y="2828275"/>
            <a:chExt cx="3629413" cy="1289700"/>
          </a:xfrm>
        </p:grpSpPr>
        <p:sp>
          <p:nvSpPr>
            <p:cNvPr id="190" name="Google Shape;190;p25"/>
            <p:cNvSpPr txBox="1"/>
            <p:nvPr/>
          </p:nvSpPr>
          <p:spPr>
            <a:xfrm>
              <a:off x="323500" y="2828275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Uniform Probablility Model</a:t>
              </a:r>
              <a:endParaRPr b="1" sz="1200"/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/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/>
                <a:t>Assign equal probability across SUT reachable area</a:t>
              </a:r>
              <a:endParaRPr b="1" sz="1000"/>
            </a:p>
          </p:txBody>
        </p:sp>
        <p:cxnSp>
          <p:nvCxnSpPr>
            <p:cNvPr id="191" name="Google Shape;191;p25"/>
            <p:cNvCxnSpPr/>
            <p:nvPr/>
          </p:nvCxnSpPr>
          <p:spPr>
            <a:xfrm rot="10800000">
              <a:off x="2641913" y="3489425"/>
              <a:ext cx="1311000" cy="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92" name="Google Shape;192;p25"/>
          <p:cNvGrpSpPr/>
          <p:nvPr/>
        </p:nvGrpSpPr>
        <p:grpSpPr>
          <a:xfrm>
            <a:off x="5209825" y="1060350"/>
            <a:ext cx="3610650" cy="1289700"/>
            <a:chOff x="5209825" y="1060350"/>
            <a:chExt cx="3610650" cy="1289700"/>
          </a:xfrm>
        </p:grpSpPr>
        <p:sp>
          <p:nvSpPr>
            <p:cNvPr id="193" name="Google Shape;193;p25"/>
            <p:cNvSpPr txBox="1"/>
            <p:nvPr/>
          </p:nvSpPr>
          <p:spPr>
            <a:xfrm>
              <a:off x="6696475" y="10603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Intent Probability Map</a:t>
              </a:r>
              <a:endParaRPr b="1"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/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/>
                <a:t>Propagate velocity and yaw </a:t>
              </a:r>
              <a:r>
                <a:rPr lang="en" sz="1000"/>
                <a:t>uncertainty</a:t>
              </a:r>
              <a:r>
                <a:rPr lang="en" sz="1000"/>
                <a:t> via odometer error model</a:t>
              </a:r>
              <a:endParaRPr b="1" sz="1000"/>
            </a:p>
          </p:txBody>
        </p:sp>
        <p:cxnSp>
          <p:nvCxnSpPr>
            <p:cNvPr id="194" name="Google Shape;194;p25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801F17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95" name="Google Shape;195;p25"/>
          <p:cNvGrpSpPr/>
          <p:nvPr/>
        </p:nvGrpSpPr>
        <p:grpSpPr>
          <a:xfrm>
            <a:off x="5209825" y="3020450"/>
            <a:ext cx="3610650" cy="1289700"/>
            <a:chOff x="5209825" y="3020450"/>
            <a:chExt cx="3610650" cy="1289700"/>
          </a:xfrm>
        </p:grpSpPr>
        <p:sp>
          <p:nvSpPr>
            <p:cNvPr id="196" name="Google Shape;196;p25"/>
            <p:cNvSpPr txBox="1"/>
            <p:nvPr/>
          </p:nvSpPr>
          <p:spPr>
            <a:xfrm>
              <a:off x="6696475" y="30204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Interceptability Score</a:t>
              </a:r>
              <a:endParaRPr b="1"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/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/>
                <a:t>Sum probabilities within intruder’s reachable region [0,1]</a:t>
              </a:r>
              <a:endParaRPr b="1" sz="1000"/>
            </a:p>
          </p:txBody>
        </p:sp>
        <p:cxnSp>
          <p:nvCxnSpPr>
            <p:cNvPr id="197" name="Google Shape;197;p25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A7291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198" name="Google Shape;198;p25"/>
          <p:cNvSpPr txBox="1"/>
          <p:nvPr/>
        </p:nvSpPr>
        <p:spPr>
          <a:xfrm>
            <a:off x="2014325" y="4332700"/>
            <a:ext cx="5460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2. Dissertation Review by Lulu Allen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RQ3</a:t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Static Testing fails </a:t>
            </a:r>
            <a:r>
              <a:rPr lang="en" sz="1600">
                <a:solidFill>
                  <a:schemeClr val="dk1"/>
                </a:solidFill>
              </a:rPr>
              <a:t>when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autonomous system deviates from predicted path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Adaptive Testing dynamically adjust to SUT behavior but is harder to design deterministically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Pursuit Percent reveal a window which the intruder actively follows the trajectory plan. After expiration, the intruder maintains current heading and speed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100%: encounter is unavoidable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Lower values (i.e., 70%): the SUT can potentially maneuver to safet allowing better performance assessment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631938" y="4079337"/>
            <a:ext cx="7880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>
                <a:solidFill>
                  <a:schemeClr val="accent3"/>
                </a:solidFill>
              </a:rPr>
              <a:t>How can a testing framework produce scenarios that are both static and adaptive to unpredictable system behaviors?</a:t>
            </a:r>
            <a:endParaRPr sz="1200">
              <a:solidFill>
                <a:schemeClr val="accent3"/>
              </a:solidFill>
            </a:endParaRPr>
          </a:p>
        </p:txBody>
      </p:sp>
      <p:cxnSp>
        <p:nvCxnSpPr>
          <p:cNvPr id="206" name="Google Shape;206;p26"/>
          <p:cNvCxnSpPr/>
          <p:nvPr/>
        </p:nvCxnSpPr>
        <p:spPr>
          <a:xfrm rot="10800000">
            <a:off x="4401000" y="3509325"/>
            <a:ext cx="342000" cy="5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Pursuit Percent</a:t>
            </a:r>
            <a:endParaRPr/>
          </a:p>
        </p:txBody>
      </p:sp>
      <p:pic>
        <p:nvPicPr>
          <p:cNvPr id="212" name="Google Shape;212;p27" title="Screenshot 2026-04-27 at 3.07.48 PM.png"/>
          <p:cNvPicPr preferRelativeResize="0"/>
          <p:nvPr/>
        </p:nvPicPr>
        <p:blipFill rotWithShape="1">
          <a:blip r:embed="rId3">
            <a:alphaModFix/>
          </a:blip>
          <a:srcRect b="17668" l="0" r="0" t="0"/>
          <a:stretch/>
        </p:blipFill>
        <p:spPr>
          <a:xfrm>
            <a:off x="998550" y="1093550"/>
            <a:ext cx="7146901" cy="290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1702500" y="4117349"/>
            <a:ext cx="5739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15. “Pursuit Percent Example” [1.0] </a:t>
            </a:r>
            <a:r>
              <a:rPr lang="en" sz="10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Trajectory (MATLAB): Ran two cases with Euler integration = 0.1s. Constant velocity and heading achieved DCPA of -5.00m at 10s. A 180° heading change can still achieved DCPA confirming robustness.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Monte Carlo: Tested 500 randomized SUT behaviors; errors remained around 10⁻¹⁵, confirming high deterministic accuracy.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VMATE Deployment: Successfully tested in VMATE with a clean crossover and a noisy trajectory; the noisy case matched predicted erratic behaviors, validating noise analysis.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MATLAB Validation</a:t>
            </a:r>
            <a:endParaRPr sz="2500"/>
          </a:p>
        </p:txBody>
      </p:sp>
      <p:pic>
        <p:nvPicPr>
          <p:cNvPr id="225" name="Google Shape;225;p29" title="Screenshot 2026-04-27 at 3.52.49 PM.png"/>
          <p:cNvPicPr preferRelativeResize="0"/>
          <p:nvPr/>
        </p:nvPicPr>
        <p:blipFill rotWithShape="1">
          <a:blip r:embed="rId3">
            <a:alphaModFix/>
          </a:blip>
          <a:srcRect b="28525" l="0" r="0" t="0"/>
          <a:stretch/>
        </p:blipFill>
        <p:spPr>
          <a:xfrm>
            <a:off x="562550" y="1182800"/>
            <a:ext cx="8018927" cy="242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1265413" y="3711950"/>
            <a:ext cx="66132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8. “Constant Velocity &amp; 180 Heading Change Event at Start Time (Left) &amp; Event Time (Right)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Validation</a:t>
            </a:r>
            <a:endParaRPr/>
          </a:p>
        </p:txBody>
      </p:sp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669250" y="3948400"/>
            <a:ext cx="38055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33" name="Google Shape;233;p30" title="Screenshot 2026-04-27 at 2.56.09 PM.png"/>
          <p:cNvPicPr preferRelativeResize="0"/>
          <p:nvPr/>
        </p:nvPicPr>
        <p:blipFill rotWithShape="1">
          <a:blip r:embed="rId4">
            <a:alphaModFix/>
          </a:blip>
          <a:srcRect b="0" l="0" r="0" t="50000"/>
          <a:stretch/>
        </p:blipFill>
        <p:spPr>
          <a:xfrm>
            <a:off x="4572000" y="1285875"/>
            <a:ext cx="2705300" cy="25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 title="Screenshot 2026-04-27 at 2.56.09 PM.png"/>
          <p:cNvPicPr preferRelativeResize="0"/>
          <p:nvPr/>
        </p:nvPicPr>
        <p:blipFill rotWithShape="1">
          <a:blip r:embed="rId4">
            <a:alphaModFix/>
          </a:blip>
          <a:srcRect b="50000" l="0" r="0" t="0"/>
          <a:stretch/>
        </p:blipFill>
        <p:spPr>
          <a:xfrm>
            <a:off x="1866700" y="1311212"/>
            <a:ext cx="2705300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RQ4</a:t>
            </a:r>
            <a:endParaRPr sz="2500"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Gaussian heading noise leads to erratic, compounding errors in intruder trajectory</a:t>
            </a:r>
            <a:endParaRPr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In the US Navy’s ASTC/VMATE environment, behavior tree integration, real-time tracking, and encounter triggers showed the predicted erratic behavior, confirming the noise analysis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505350" y="2901125"/>
            <a:ext cx="813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>
                <a:solidFill>
                  <a:schemeClr val="accent3"/>
                </a:solidFill>
              </a:rPr>
              <a:t>What practical challenges arise from sensor noise and kinematic limitations, and what strategies address them?</a:t>
            </a:r>
            <a:endParaRPr sz="1200">
              <a:solidFill>
                <a:schemeClr val="accent3"/>
              </a:solidFill>
            </a:endParaRPr>
          </a:p>
        </p:txBody>
      </p:sp>
      <p:cxnSp>
        <p:nvCxnSpPr>
          <p:cNvPr id="242" name="Google Shape;242;p31"/>
          <p:cNvCxnSpPr/>
          <p:nvPr/>
        </p:nvCxnSpPr>
        <p:spPr>
          <a:xfrm rot="10800000">
            <a:off x="3002450" y="2229625"/>
            <a:ext cx="658800" cy="59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VMATE B</a:t>
            </a:r>
            <a:r>
              <a:rPr lang="en" sz="2500"/>
              <a:t>ehavior Tree </a:t>
            </a:r>
            <a:endParaRPr sz="2500"/>
          </a:p>
        </p:txBody>
      </p:sp>
      <p:pic>
        <p:nvPicPr>
          <p:cNvPr id="248" name="Google Shape;248;p32" title="Screenshot 2026-04-27 at 3.41.41 PM.png"/>
          <p:cNvPicPr preferRelativeResize="0"/>
          <p:nvPr/>
        </p:nvPicPr>
        <p:blipFill rotWithShape="1">
          <a:blip r:embed="rId3">
            <a:alphaModFix/>
          </a:blip>
          <a:srcRect b="11253" l="0" r="0" t="0"/>
          <a:stretch/>
        </p:blipFill>
        <p:spPr>
          <a:xfrm>
            <a:off x="2199525" y="1017725"/>
            <a:ext cx="4744950" cy="33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240700" y="1786300"/>
            <a:ext cx="19002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39. “Traffic Behavior Tree” </a:t>
            </a:r>
            <a:r>
              <a:rPr lang="en" sz="10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VMATE High-Fidelity Deployment</a:t>
            </a:r>
            <a:endParaRPr sz="2500"/>
          </a:p>
        </p:txBody>
      </p:sp>
      <p:pic>
        <p:nvPicPr>
          <p:cNvPr id="255" name="Google Shape;255;p33" title="Screenshot 2026-04-27 at 3.45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425" y="1116563"/>
            <a:ext cx="4303724" cy="30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3" title="Screenshot 2026-04-27 at 3.45.2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800" y="1112152"/>
            <a:ext cx="3854924" cy="310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 txBox="1"/>
          <p:nvPr/>
        </p:nvSpPr>
        <p:spPr>
          <a:xfrm>
            <a:off x="3096150" y="4308425"/>
            <a:ext cx="2951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pSp>
        <p:nvGrpSpPr>
          <p:cNvPr id="263" name="Google Shape;263;p34"/>
          <p:cNvGrpSpPr/>
          <p:nvPr/>
        </p:nvGrpSpPr>
        <p:grpSpPr>
          <a:xfrm>
            <a:off x="382446" y="3013243"/>
            <a:ext cx="8379109" cy="855558"/>
            <a:chOff x="1431325" y="2473842"/>
            <a:chExt cx="6566700" cy="670500"/>
          </a:xfrm>
        </p:grpSpPr>
        <p:sp>
          <p:nvSpPr>
            <p:cNvPr id="264" name="Google Shape;264;p3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4"/>
            <p:cNvSpPr txBox="1"/>
            <p:nvPr/>
          </p:nvSpPr>
          <p:spPr>
            <a:xfrm>
              <a:off x="535013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50155" lvl="0" marL="58337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21"/>
                <a:buChar char="●"/>
              </a:pPr>
              <a:r>
                <a:rPr lang="en" sz="921">
                  <a:solidFill>
                    <a:srgbClr val="FFFFFF"/>
                  </a:solidFill>
                </a:rPr>
                <a:t>At 90 degrees the crossover test executed as designed and validated end-to-end pipeline</a:t>
              </a:r>
              <a:endParaRPr sz="921">
                <a:solidFill>
                  <a:srgbClr val="FFFFFF"/>
                </a:solidFill>
              </a:endParaRPr>
            </a:p>
          </p:txBody>
        </p:sp>
        <p:sp>
          <p:nvSpPr>
            <p:cNvPr id="266" name="Google Shape;266;p3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80586" lvl="0" marL="58337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Char char="●"/>
              </a:pPr>
              <a:r>
                <a:rPr lang="en">
                  <a:solidFill>
                    <a:schemeClr val="lt1"/>
                  </a:solidFill>
                </a:rPr>
                <a:t>VMATE High-Fidelity Deployment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67" name="Google Shape;267;p3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fmla="val 16226349" name="adj1"/>
                <a:gd fmla="val 10795968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90</a:t>
              </a:r>
              <a:endParaRPr sz="1600">
                <a:solidFill>
                  <a:srgbClr val="FFFFFF"/>
                </a:solidFill>
              </a:endParaRPr>
            </a:p>
          </p:txBody>
        </p:sp>
        <p:cxnSp>
          <p:nvCxnSpPr>
            <p:cNvPr id="271" name="Google Shape;271;p3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272" name="Google Shape;272;p34"/>
          <p:cNvGrpSpPr/>
          <p:nvPr/>
        </p:nvGrpSpPr>
        <p:grpSpPr>
          <a:xfrm>
            <a:off x="382446" y="2143960"/>
            <a:ext cx="8379109" cy="855558"/>
            <a:chOff x="1431325" y="2473842"/>
            <a:chExt cx="6566700" cy="670500"/>
          </a:xfrm>
        </p:grpSpPr>
        <p:sp>
          <p:nvSpPr>
            <p:cNvPr id="273" name="Google Shape;273;p3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 txBox="1"/>
            <p:nvPr/>
          </p:nvSpPr>
          <p:spPr>
            <a:xfrm>
              <a:off x="2871986" y="2480591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18819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21"/>
                <a:buChar char="●"/>
              </a:pPr>
              <a:r>
                <a:rPr lang="en" sz="1421">
                  <a:solidFill>
                    <a:srgbClr val="FFFFFF"/>
                  </a:solidFill>
                </a:rPr>
                <a:t>Monte Carlo</a:t>
              </a:r>
              <a:endParaRPr sz="1421">
                <a:solidFill>
                  <a:srgbClr val="FFFFFF"/>
                </a:solidFill>
              </a:endParaRPr>
            </a:p>
          </p:txBody>
        </p:sp>
        <p:sp>
          <p:nvSpPr>
            <p:cNvPr id="275" name="Google Shape;275;p34"/>
            <p:cNvSpPr txBox="1"/>
            <p:nvPr/>
          </p:nvSpPr>
          <p:spPr>
            <a:xfrm>
              <a:off x="5338959" y="247958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50155" lvl="0" marL="58337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21"/>
                <a:buChar char="●"/>
              </a:pPr>
              <a:r>
                <a:rPr lang="en" sz="921">
                  <a:solidFill>
                    <a:srgbClr val="FFFFFF"/>
                  </a:solidFill>
                </a:rPr>
                <a:t>All 500 runs achieved designed DCPA within numerical precision during implementation phase</a:t>
              </a:r>
              <a:endParaRPr sz="921">
                <a:solidFill>
                  <a:srgbClr val="FFFFFF"/>
                </a:solidFill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fmla="val 16226349" name="adj1"/>
                <a:gd fmla="val 10795968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100</a:t>
              </a:r>
              <a:r>
                <a:rPr lang="en" sz="1600">
                  <a:solidFill>
                    <a:srgbClr val="FFFFFF"/>
                  </a:solidFill>
                </a:rPr>
                <a:t>%</a:t>
              </a:r>
              <a:endParaRPr sz="1600">
                <a:solidFill>
                  <a:srgbClr val="FFFFFF"/>
                </a:solidFill>
              </a:endParaRPr>
            </a:p>
          </p:txBody>
        </p:sp>
        <p:cxnSp>
          <p:nvCxnSpPr>
            <p:cNvPr id="280" name="Google Shape;280;p3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281" name="Google Shape;281;p34"/>
          <p:cNvGrpSpPr/>
          <p:nvPr/>
        </p:nvGrpSpPr>
        <p:grpSpPr>
          <a:xfrm>
            <a:off x="382446" y="1274677"/>
            <a:ext cx="8379109" cy="855558"/>
            <a:chOff x="1431325" y="2473842"/>
            <a:chExt cx="6566700" cy="670500"/>
          </a:xfrm>
        </p:grpSpPr>
        <p:sp>
          <p:nvSpPr>
            <p:cNvPr id="282" name="Google Shape;282;p3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 txBox="1"/>
            <p:nvPr/>
          </p:nvSpPr>
          <p:spPr>
            <a:xfrm>
              <a:off x="535013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50155" lvl="0" marL="58337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21"/>
                <a:buChar char="●"/>
              </a:pPr>
              <a:r>
                <a:rPr lang="en" sz="921">
                  <a:solidFill>
                    <a:srgbClr val="FFFFFF"/>
                  </a:solidFill>
                </a:rPr>
                <a:t>Intruder trajectory held </a:t>
              </a:r>
              <a:r>
                <a:rPr lang="en" sz="921">
                  <a:solidFill>
                    <a:srgbClr val="FFFFFF"/>
                  </a:solidFill>
                </a:rPr>
                <a:t>exactly</a:t>
              </a:r>
              <a:r>
                <a:rPr lang="en" sz="921">
                  <a:solidFill>
                    <a:srgbClr val="FFFFFF"/>
                  </a:solidFill>
                </a:rPr>
                <a:t> as designed during constant &amp; 180 degree heading SUT with DCPA =-5.00m achieved &amp; Desired Event Time = 10.0s </a:t>
              </a:r>
              <a:endParaRPr sz="921">
                <a:solidFill>
                  <a:srgbClr val="FFFFFF"/>
                </a:solidFill>
              </a:endParaRPr>
            </a:p>
          </p:txBody>
        </p:sp>
        <p:sp>
          <p:nvSpPr>
            <p:cNvPr id="284" name="Google Shape;284;p3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-381905" lvl="0" marL="583372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21"/>
                <a:buChar char="●"/>
              </a:pPr>
              <a:r>
                <a:rPr lang="en" sz="1421">
                  <a:solidFill>
                    <a:srgbClr val="FFFFFF"/>
                  </a:solidFill>
                </a:rPr>
                <a:t>MATLAB</a:t>
              </a:r>
              <a:endParaRPr sz="1421">
                <a:solidFill>
                  <a:srgbClr val="FFFFFF"/>
                </a:solidFill>
              </a:endParaRPr>
            </a:p>
          </p:txBody>
        </p:sp>
        <p:sp>
          <p:nvSpPr>
            <p:cNvPr id="285" name="Google Shape;285;p3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fmla="val 16226349" name="adj1"/>
                <a:gd fmla="val 10795968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Pass</a:t>
              </a:r>
              <a:endParaRPr sz="1600">
                <a:solidFill>
                  <a:srgbClr val="FFFFFF"/>
                </a:solidFill>
              </a:endParaRPr>
            </a:p>
          </p:txBody>
        </p:sp>
        <p:cxnSp>
          <p:nvCxnSpPr>
            <p:cNvPr id="289" name="Google Shape;289;p3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90" name="Google Shape;290;p34"/>
          <p:cNvSpPr txBox="1"/>
          <p:nvPr/>
        </p:nvSpPr>
        <p:spPr>
          <a:xfrm>
            <a:off x="2014325" y="4332700"/>
            <a:ext cx="5460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Fig 3. Dissertation Review by Lulu Allen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1" name="Google Shape;291;p34"/>
          <p:cNvSpPr/>
          <p:nvPr/>
        </p:nvSpPr>
        <p:spPr>
          <a:xfrm rot="5262012">
            <a:off x="1476221" y="3372787"/>
            <a:ext cx="74760" cy="49233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7A7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Hargis, Benjamin E.. "Testing Autonomy: Hybrid Scenario Synthesis" (2025). Doctor of Philosophy (PhD), Dissertation, Electrical &amp; Computer Engineering, Old Dominion University, DOI: 10.25777/7b1q-nr02 </a:t>
            </a:r>
            <a:r>
              <a:rPr lang="en" sz="1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https://digitalcommons.odu.edu/ece_etds/606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Araujo, Hugo, Mohammad Reza Mousavi, and Mahsa Varshosaz. (2023). Testing, Validation, and Verification of Robotic and Autonomous Systems: A Systematic Review. ACM Transactions on Software Engineering and Methodology 32(2): 1–61. doi:10.1145/3542945.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Biggar, Oliver, Mohammad Zamani, and Iman Shames. (2021). A Principled Analysis of Behavior Trees and Their Generalisations. doi:10.48550/arXiv.2008.11906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Hargis, Benjamin E, and Yiannis E Papelis. (2022a). Simulation-Based Approach to Synthesizing Maritime Interaction Scenarios for Testing Autonomy. I/ITSEC 2022 Conference.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Hargis, Benjamin E, and Yiannis E Papelis. (2023). Statistical Approach to Quantifying Interceptability of Interaction Scenarios for Testing Autonomous Surface Vessels. https://digitalcommons.odu.edu/cgi/viewcontent.cgi?article=1037&amp;context=msvcapstone.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