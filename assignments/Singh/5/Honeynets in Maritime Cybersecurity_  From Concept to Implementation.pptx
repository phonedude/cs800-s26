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d34923da17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d34923da17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d1b6116ee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d1b6116ee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d1b6116ee9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d1b6116ee9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d34923da17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d34923da17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d34923da17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d34923da17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d33586660c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d33586660c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d34923da17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d34923da17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d33586660c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d33586660c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d34923da17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d34923da17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4" name="Shape 14"/>
        <p:cNvGrpSpPr/>
        <p:nvPr/>
      </p:nvGrpSpPr>
      <p:grpSpPr>
        <a:xfrm>
          <a:off x="0" y="0"/>
          <a:ext cx="0" cy="0"/>
          <a:chOff x="0" y="0"/>
          <a:chExt cx="0" cy="0"/>
        </a:xfrm>
      </p:grpSpPr>
      <p:sp>
        <p:nvSpPr>
          <p:cNvPr id="15" name="Google Shape;15;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6" name="Google Shape;16;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7" name="Google Shape;17;p2"/>
          <p:cNvSpPr txBox="1"/>
          <p:nvPr>
            <p:ph idx="12" type="sldNum"/>
          </p:nvPr>
        </p:nvSpPr>
        <p:spPr>
          <a:xfrm>
            <a:off x="8472450" y="4795402"/>
            <a:ext cx="548700" cy="285900"/>
          </a:xfrm>
          <a:prstGeom prst="rect">
            <a:avLst/>
          </a:prstGeom>
        </p:spPr>
        <p:txBody>
          <a:bodyPr anchorCtr="0" anchor="ctr" bIns="91425" lIns="91425" spcFirstLastPara="1" rIns="91425" wrap="square" tIns="91425">
            <a:normAutofit fontScale="775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8" name="Shape 18"/>
        <p:cNvGrpSpPr/>
        <p:nvPr/>
      </p:nvGrpSpPr>
      <p:grpSpPr>
        <a:xfrm>
          <a:off x="0" y="0"/>
          <a:ext cx="0" cy="0"/>
          <a:chOff x="0" y="0"/>
          <a:chExt cx="0" cy="0"/>
        </a:xfrm>
      </p:grpSpPr>
      <p:sp>
        <p:nvSpPr>
          <p:cNvPr id="19" name="Google Shape;19;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0" name="Google Shape;20;p3"/>
          <p:cNvSpPr txBox="1"/>
          <p:nvPr>
            <p:ph idx="12" type="sldNum"/>
          </p:nvPr>
        </p:nvSpPr>
        <p:spPr>
          <a:xfrm>
            <a:off x="8472450" y="4795402"/>
            <a:ext cx="548700" cy="285900"/>
          </a:xfrm>
          <a:prstGeom prst="rect">
            <a:avLst/>
          </a:prstGeom>
        </p:spPr>
        <p:txBody>
          <a:bodyPr anchorCtr="0" anchor="ctr" bIns="91425" lIns="91425" spcFirstLastPara="1" rIns="91425" wrap="square" tIns="91425">
            <a:normAutofit fontScale="775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sp>
        <p:nvSpPr>
          <p:cNvPr id="22" name="Google Shape;22;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 name="Google Shape;23;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4" name="Google Shape;24;p4"/>
          <p:cNvSpPr txBox="1"/>
          <p:nvPr>
            <p:ph idx="12" type="sldNum"/>
          </p:nvPr>
        </p:nvSpPr>
        <p:spPr>
          <a:xfrm>
            <a:off x="8472450" y="4795402"/>
            <a:ext cx="548700" cy="285900"/>
          </a:xfrm>
          <a:prstGeom prst="rect">
            <a:avLst/>
          </a:prstGeom>
        </p:spPr>
        <p:txBody>
          <a:bodyPr anchorCtr="0" anchor="ctr" bIns="91425" lIns="91425" spcFirstLastPara="1" rIns="91425" wrap="square" tIns="91425">
            <a:normAutofit fontScale="775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sp>
        <p:nvSpPr>
          <p:cNvPr id="26" name="Google Shape;26;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12" type="sldNum"/>
          </p:nvPr>
        </p:nvSpPr>
        <p:spPr>
          <a:xfrm>
            <a:off x="8472450" y="4795402"/>
            <a:ext cx="548700" cy="285900"/>
          </a:xfrm>
          <a:prstGeom prst="rect">
            <a:avLst/>
          </a:prstGeom>
        </p:spPr>
        <p:txBody>
          <a:bodyPr anchorCtr="0" anchor="ctr" bIns="91425" lIns="91425" spcFirstLastPara="1" rIns="91425" wrap="square" tIns="91425">
            <a:normAutofit fontScale="775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2" name="Google Shape;32;p6"/>
          <p:cNvSpPr txBox="1"/>
          <p:nvPr>
            <p:ph idx="12" type="sldNum"/>
          </p:nvPr>
        </p:nvSpPr>
        <p:spPr>
          <a:xfrm>
            <a:off x="8472450" y="4795402"/>
            <a:ext cx="548700" cy="285900"/>
          </a:xfrm>
          <a:prstGeom prst="rect">
            <a:avLst/>
          </a:prstGeom>
        </p:spPr>
        <p:txBody>
          <a:bodyPr anchorCtr="0" anchor="ctr" bIns="91425" lIns="91425" spcFirstLastPara="1" rIns="91425" wrap="square" tIns="91425">
            <a:normAutofit fontScale="775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sp>
        <p:nvSpPr>
          <p:cNvPr id="34" name="Google Shape;34;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5" name="Google Shape;35;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6" name="Google Shape;36;p7"/>
          <p:cNvSpPr txBox="1"/>
          <p:nvPr>
            <p:ph idx="12" type="sldNum"/>
          </p:nvPr>
        </p:nvSpPr>
        <p:spPr>
          <a:xfrm>
            <a:off x="8472450" y="4795402"/>
            <a:ext cx="548700" cy="285900"/>
          </a:xfrm>
          <a:prstGeom prst="rect">
            <a:avLst/>
          </a:prstGeom>
        </p:spPr>
        <p:txBody>
          <a:bodyPr anchorCtr="0" anchor="ctr" bIns="91425" lIns="91425" spcFirstLastPara="1" rIns="91425" wrap="square" tIns="91425">
            <a:normAutofit fontScale="775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7" name="Shape 37"/>
        <p:cNvGrpSpPr/>
        <p:nvPr/>
      </p:nvGrpSpPr>
      <p:grpSpPr>
        <a:xfrm>
          <a:off x="0" y="0"/>
          <a:ext cx="0" cy="0"/>
          <a:chOff x="0" y="0"/>
          <a:chExt cx="0" cy="0"/>
        </a:xfrm>
      </p:grpSpPr>
      <p:sp>
        <p:nvSpPr>
          <p:cNvPr id="38" name="Google Shape;38;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9" name="Google Shape;39;p8"/>
          <p:cNvSpPr txBox="1"/>
          <p:nvPr>
            <p:ph idx="12" type="sldNum"/>
          </p:nvPr>
        </p:nvSpPr>
        <p:spPr>
          <a:xfrm>
            <a:off x="8472450" y="4795402"/>
            <a:ext cx="548700" cy="285900"/>
          </a:xfrm>
          <a:prstGeom prst="rect">
            <a:avLst/>
          </a:prstGeom>
        </p:spPr>
        <p:txBody>
          <a:bodyPr anchorCtr="0" anchor="ctr" bIns="91425" lIns="91425" spcFirstLastPara="1" rIns="91425" wrap="square" tIns="91425">
            <a:normAutofit fontScale="775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0" name="Shape 40"/>
        <p:cNvGrpSpPr/>
        <p:nvPr/>
      </p:nvGrpSpPr>
      <p:grpSpPr>
        <a:xfrm>
          <a:off x="0" y="0"/>
          <a:ext cx="0" cy="0"/>
          <a:chOff x="0" y="0"/>
          <a:chExt cx="0" cy="0"/>
        </a:xfrm>
      </p:grpSpPr>
      <p:sp>
        <p:nvSpPr>
          <p:cNvPr id="41" name="Google Shape;41;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 name="Google Shape;43;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4" name="Google Shape;44;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5" name="Google Shape;45;p9"/>
          <p:cNvSpPr txBox="1"/>
          <p:nvPr>
            <p:ph idx="12" type="sldNum"/>
          </p:nvPr>
        </p:nvSpPr>
        <p:spPr>
          <a:xfrm>
            <a:off x="8472450" y="4795402"/>
            <a:ext cx="548700" cy="285900"/>
          </a:xfrm>
          <a:prstGeom prst="rect">
            <a:avLst/>
          </a:prstGeom>
        </p:spPr>
        <p:txBody>
          <a:bodyPr anchorCtr="0" anchor="ctr" bIns="91425" lIns="91425" spcFirstLastPara="1" rIns="91425" wrap="square" tIns="91425">
            <a:normAutofit fontScale="775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8" name="Google Shape;48;p10"/>
          <p:cNvSpPr txBox="1"/>
          <p:nvPr>
            <p:ph idx="12" type="sldNum"/>
          </p:nvPr>
        </p:nvSpPr>
        <p:spPr>
          <a:xfrm>
            <a:off x="8472450" y="4795402"/>
            <a:ext cx="548700" cy="285900"/>
          </a:xfrm>
          <a:prstGeom prst="rect">
            <a:avLst/>
          </a:prstGeom>
        </p:spPr>
        <p:txBody>
          <a:bodyPr anchorCtr="0" anchor="ctr" bIns="91425" lIns="91425" spcFirstLastPara="1" rIns="91425" wrap="square" tIns="91425">
            <a:normAutofit fontScale="775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72450" y="4795402"/>
            <a:ext cx="548700" cy="285900"/>
          </a:xfrm>
          <a:prstGeom prst="rect">
            <a:avLst/>
          </a:prstGeom>
        </p:spPr>
        <p:txBody>
          <a:bodyPr anchorCtr="0" anchor="ctr" bIns="91425" lIns="91425" spcFirstLastPara="1" rIns="91425" wrap="square" tIns="91425">
            <a:normAutofit fontScale="775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0" y="4795402"/>
            <a:ext cx="548700" cy="285900"/>
          </a:xfrm>
          <a:prstGeom prst="rect">
            <a:avLst/>
          </a:prstGeom>
        </p:spPr>
        <p:txBody>
          <a:bodyPr anchorCtr="0" anchor="ctr" bIns="91425" lIns="91425" spcFirstLastPara="1" rIns="91425" wrap="square" tIns="91425">
            <a:normAutofit fontScale="775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6.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0" y="4795402"/>
            <a:ext cx="548700" cy="285900"/>
          </a:xfrm>
          <a:prstGeom prst="rect">
            <a:avLst/>
          </a:prstGeom>
          <a:noFill/>
          <a:ln>
            <a:noFill/>
          </a:ln>
        </p:spPr>
        <p:txBody>
          <a:bodyPr anchorCtr="0" anchor="ctr" bIns="91425" lIns="91425" spcFirstLastPara="1" rIns="91425" wrap="square" tIns="91425">
            <a:normAutofit fontScale="77500" lnSpcReduction="20000"/>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9" name="Google Shape;9;p1"/>
          <p:cNvSpPr txBox="1"/>
          <p:nvPr/>
        </p:nvSpPr>
        <p:spPr>
          <a:xfrm>
            <a:off x="4311025" y="4526575"/>
            <a:ext cx="1404900" cy="47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10" name="Google Shape;10;p1"/>
          <p:cNvSpPr txBox="1"/>
          <p:nvPr/>
        </p:nvSpPr>
        <p:spPr>
          <a:xfrm>
            <a:off x="168125" y="4729025"/>
            <a:ext cx="1902900" cy="46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rPr>
              <a:t>Anurudh Singh</a:t>
            </a:r>
            <a:endParaRPr sz="1000">
              <a:solidFill>
                <a:schemeClr val="dk2"/>
              </a:solidFill>
            </a:endParaRPr>
          </a:p>
        </p:txBody>
      </p:sp>
      <p:sp>
        <p:nvSpPr>
          <p:cNvPr id="11" name="Google Shape;11;p1"/>
          <p:cNvSpPr txBox="1"/>
          <p:nvPr/>
        </p:nvSpPr>
        <p:spPr>
          <a:xfrm>
            <a:off x="3551475" y="4717075"/>
            <a:ext cx="1870500" cy="28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rPr>
              <a:t>Research Methods(CS800)</a:t>
            </a:r>
            <a:endParaRPr sz="1000">
              <a:solidFill>
                <a:schemeClr val="dk2"/>
              </a:solidFill>
            </a:endParaRPr>
          </a:p>
        </p:txBody>
      </p:sp>
      <p:cxnSp>
        <p:nvCxnSpPr>
          <p:cNvPr id="12" name="Google Shape;12;p1"/>
          <p:cNvCxnSpPr/>
          <p:nvPr/>
        </p:nvCxnSpPr>
        <p:spPr>
          <a:xfrm flipH="1" rot="10800000">
            <a:off x="187658" y="4735388"/>
            <a:ext cx="8784900" cy="24300"/>
          </a:xfrm>
          <a:prstGeom prst="straightConnector1">
            <a:avLst/>
          </a:prstGeom>
          <a:noFill/>
          <a:ln cap="flat" cmpd="sng" w="9525">
            <a:solidFill>
              <a:schemeClr val="dk2"/>
            </a:solidFill>
            <a:prstDash val="solid"/>
            <a:round/>
            <a:headEnd len="med" w="med" type="none"/>
            <a:tailEnd len="med" w="med" type="none"/>
          </a:ln>
        </p:spPr>
      </p:cxnSp>
      <p:pic>
        <p:nvPicPr>
          <p:cNvPr id="13" name="Google Shape;13;p1" title="images.jpg"/>
          <p:cNvPicPr preferRelativeResize="0"/>
          <p:nvPr/>
        </p:nvPicPr>
        <p:blipFill>
          <a:blip r:embed="rId1">
            <a:alphaModFix amt="35000"/>
          </a:blip>
          <a:stretch>
            <a:fillRect/>
          </a:stretch>
        </p:blipFill>
        <p:spPr>
          <a:xfrm>
            <a:off x="8472450" y="0"/>
            <a:ext cx="671550" cy="43743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ieeexplore.ieee.org/document/10223347" TargetMode="External"/><Relationship Id="rId4" Type="http://schemas.openxmlformats.org/officeDocument/2006/relationships/hyperlink" Target="https://ieeexplore.ieee.org/document/11087909" TargetMode="External"/><Relationship Id="rId5" Type="http://schemas.openxmlformats.org/officeDocument/2006/relationships/hyperlink" Target="https://www.linkedin.com/in/singh-anurudh/"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gif"/><Relationship Id="rId4" Type="http://schemas.openxmlformats.org/officeDocument/2006/relationships/image" Target="../media/image3.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9.gi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gif"/><Relationship Id="rId4" Type="http://schemas.openxmlformats.org/officeDocument/2006/relationships/image" Target="../media/image5.gi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311700" y="55050"/>
            <a:ext cx="8520600" cy="1006500"/>
          </a:xfrm>
          <a:prstGeom prst="rect">
            <a:avLst/>
          </a:prstGeom>
          <a:ln>
            <a:noFill/>
          </a:ln>
        </p:spPr>
        <p:txBody>
          <a:bodyPr anchorCtr="0" anchor="b" bIns="91425" lIns="91425" spcFirstLastPara="1" rIns="91425" wrap="square" tIns="91425">
            <a:noAutofit/>
          </a:bodyPr>
          <a:lstStyle/>
          <a:p>
            <a:pPr indent="0" lvl="0" marL="0" rtl="0" algn="ctr">
              <a:spcBef>
                <a:spcPts val="0"/>
              </a:spcBef>
              <a:spcAft>
                <a:spcPts val="0"/>
              </a:spcAft>
              <a:buSzPts val="990"/>
              <a:buNone/>
            </a:pPr>
            <a:r>
              <a:rPr b="1" lang="en" sz="2580"/>
              <a:t>Honeynets in Maritime Cybersecurity: </a:t>
            </a:r>
            <a:endParaRPr b="1" sz="2580"/>
          </a:p>
          <a:p>
            <a:pPr indent="0" lvl="0" marL="0" rtl="0" algn="ctr">
              <a:spcBef>
                <a:spcPts val="0"/>
              </a:spcBef>
              <a:spcAft>
                <a:spcPts val="0"/>
              </a:spcAft>
              <a:buSzPts val="990"/>
              <a:buNone/>
            </a:pPr>
            <a:r>
              <a:rPr b="1" lang="en" sz="2580"/>
              <a:t>From Concept to Implementation</a:t>
            </a:r>
            <a:endParaRPr b="1" sz="2580"/>
          </a:p>
        </p:txBody>
      </p:sp>
      <p:sp>
        <p:nvSpPr>
          <p:cNvPr id="60" name="Google Shape;60;p13"/>
          <p:cNvSpPr txBox="1"/>
          <p:nvPr>
            <p:ph idx="1" type="subTitle"/>
          </p:nvPr>
        </p:nvSpPr>
        <p:spPr>
          <a:xfrm>
            <a:off x="311700" y="1097100"/>
            <a:ext cx="8520600" cy="3646200"/>
          </a:xfrm>
          <a:prstGeom prst="rect">
            <a:avLst/>
          </a:prstGeom>
          <a:ln>
            <a:noFill/>
          </a:ln>
        </p:spPr>
        <p:txBody>
          <a:bodyPr anchorCtr="0" anchor="t" bIns="91425" lIns="91425" spcFirstLastPara="1" rIns="91425" wrap="square" tIns="91425">
            <a:normAutofit fontScale="32500" lnSpcReduction="20000"/>
          </a:bodyPr>
          <a:lstStyle/>
          <a:p>
            <a:pPr indent="0" lvl="0" marL="0" rtl="0" algn="ctr">
              <a:spcBef>
                <a:spcPts val="0"/>
              </a:spcBef>
              <a:spcAft>
                <a:spcPts val="0"/>
              </a:spcAft>
              <a:buNone/>
            </a:pPr>
            <a:r>
              <a:rPr b="1" lang="en" sz="3000"/>
              <a:t>Based on:</a:t>
            </a:r>
            <a:endParaRPr b="1" sz="3000"/>
          </a:p>
          <a:p>
            <a:pPr indent="0" lvl="0" marL="0" rtl="0" algn="ctr">
              <a:spcBef>
                <a:spcPts val="0"/>
              </a:spcBef>
              <a:spcAft>
                <a:spcPts val="0"/>
              </a:spcAft>
              <a:buNone/>
            </a:pPr>
            <a:r>
              <a:t/>
            </a:r>
            <a:endParaRPr b="1" sz="3211"/>
          </a:p>
          <a:p>
            <a:pPr indent="0" lvl="0" marL="0" rtl="0" algn="ctr">
              <a:spcBef>
                <a:spcPts val="0"/>
              </a:spcBef>
              <a:spcAft>
                <a:spcPts val="0"/>
              </a:spcAft>
              <a:buNone/>
            </a:pPr>
            <a:r>
              <a:rPr b="1" lang="en" sz="3211"/>
              <a:t>Paper 1 (The Foundation):</a:t>
            </a:r>
            <a:r>
              <a:rPr lang="en" sz="3211"/>
              <a:t> </a:t>
            </a:r>
            <a:r>
              <a:rPr lang="en" sz="3211">
                <a:solidFill>
                  <a:srgbClr val="333333"/>
                </a:solidFill>
                <a:highlight>
                  <a:srgbClr val="FFFFFF"/>
                </a:highlight>
              </a:rPr>
              <a:t>A Ship Honeynet to Gather Cyber Threat Intelligence for the Maritime Sector </a:t>
            </a:r>
            <a:r>
              <a:rPr lang="en" sz="3211" u="sng">
                <a:solidFill>
                  <a:schemeClr val="hlink"/>
                </a:solidFill>
                <a:hlinkClick r:id="rId3"/>
              </a:rPr>
              <a:t>https://ieeexplore.ieee.org/10223347</a:t>
            </a:r>
            <a:endParaRPr sz="3211"/>
          </a:p>
          <a:p>
            <a:pPr indent="0" lvl="0" marL="0" rtl="0" algn="l">
              <a:spcBef>
                <a:spcPts val="0"/>
              </a:spcBef>
              <a:spcAft>
                <a:spcPts val="0"/>
              </a:spcAft>
              <a:buNone/>
            </a:pPr>
            <a:r>
              <a:t/>
            </a:r>
            <a:endParaRPr sz="3211"/>
          </a:p>
          <a:p>
            <a:pPr indent="0" lvl="0" marL="0" rtl="0" algn="ctr">
              <a:spcBef>
                <a:spcPts val="0"/>
              </a:spcBef>
              <a:spcAft>
                <a:spcPts val="0"/>
              </a:spcAft>
              <a:buNone/>
            </a:pPr>
            <a:r>
              <a:rPr b="1" lang="en" sz="3211"/>
              <a:t>Paper 2 (The Extension) :</a:t>
            </a:r>
            <a:r>
              <a:rPr lang="en" sz="3211"/>
              <a:t> </a:t>
            </a:r>
            <a:r>
              <a:rPr lang="en" sz="3211">
                <a:solidFill>
                  <a:srgbClr val="333333"/>
                </a:solidFill>
                <a:highlight>
                  <a:srgbClr val="FFFFFF"/>
                </a:highlight>
              </a:rPr>
              <a:t>HoneyShip: Unveiling Cyber Threats to Maritime VSAT Systems with a High-Interaction Honeypot </a:t>
            </a:r>
            <a:r>
              <a:rPr lang="en" sz="3211" u="sng">
                <a:solidFill>
                  <a:schemeClr val="hlink"/>
                </a:solidFill>
                <a:hlinkClick r:id="rId4"/>
              </a:rPr>
              <a:t>https://ieeexplore.ieee.org/11087909</a:t>
            </a:r>
            <a:endParaRPr sz="3211"/>
          </a:p>
          <a:p>
            <a:pPr indent="0" lvl="0" marL="0" rtl="0" algn="ctr">
              <a:spcBef>
                <a:spcPts val="0"/>
              </a:spcBef>
              <a:spcAft>
                <a:spcPts val="0"/>
              </a:spcAft>
              <a:buNone/>
            </a:pPr>
            <a:r>
              <a:t/>
            </a:r>
            <a:endParaRPr sz="2500"/>
          </a:p>
          <a:p>
            <a:pPr indent="0" lvl="0" marL="0" rtl="0" algn="ctr">
              <a:spcBef>
                <a:spcPts val="0"/>
              </a:spcBef>
              <a:spcAft>
                <a:spcPts val="0"/>
              </a:spcAft>
              <a:buNone/>
            </a:pPr>
            <a:r>
              <a:t/>
            </a:r>
            <a:endParaRPr sz="2500"/>
          </a:p>
          <a:p>
            <a:pPr indent="0" lvl="0" marL="0" rtl="0" algn="ctr">
              <a:spcBef>
                <a:spcPts val="0"/>
              </a:spcBef>
              <a:spcAft>
                <a:spcPts val="0"/>
              </a:spcAft>
              <a:buNone/>
            </a:pPr>
            <a:r>
              <a:t/>
            </a:r>
            <a:endParaRPr sz="4000"/>
          </a:p>
          <a:p>
            <a:pPr indent="0" lvl="0" marL="0" rtl="0" algn="l">
              <a:spcBef>
                <a:spcPts val="0"/>
              </a:spcBef>
              <a:spcAft>
                <a:spcPts val="0"/>
              </a:spcAft>
              <a:buNone/>
            </a:pPr>
            <a:r>
              <a:t/>
            </a:r>
            <a:endParaRPr sz="4800" u="sng"/>
          </a:p>
          <a:p>
            <a:pPr indent="0" lvl="0" marL="0" rtl="0" algn="ctr">
              <a:lnSpc>
                <a:spcPct val="150000"/>
              </a:lnSpc>
              <a:spcBef>
                <a:spcPts val="0"/>
              </a:spcBef>
              <a:spcAft>
                <a:spcPts val="0"/>
              </a:spcAft>
              <a:buNone/>
            </a:pPr>
            <a:r>
              <a:rPr b="1" lang="en" sz="4800">
                <a:solidFill>
                  <a:schemeClr val="dk1"/>
                </a:solidFill>
              </a:rPr>
              <a:t>Anurudh Singh</a:t>
            </a:r>
            <a:endParaRPr b="1" sz="4800">
              <a:solidFill>
                <a:schemeClr val="dk1"/>
              </a:solidFill>
            </a:endParaRPr>
          </a:p>
          <a:p>
            <a:pPr indent="0" lvl="0" marL="0" rtl="0" algn="ctr">
              <a:lnSpc>
                <a:spcPct val="150000"/>
              </a:lnSpc>
              <a:spcBef>
                <a:spcPts val="0"/>
              </a:spcBef>
              <a:spcAft>
                <a:spcPts val="0"/>
              </a:spcAft>
              <a:buNone/>
            </a:pPr>
            <a:r>
              <a:rPr b="1" lang="en" sz="4800">
                <a:solidFill>
                  <a:schemeClr val="dk1"/>
                </a:solidFill>
              </a:rPr>
              <a:t>Old Dominion University </a:t>
            </a:r>
            <a:endParaRPr b="1" sz="4800">
              <a:solidFill>
                <a:schemeClr val="dk1"/>
              </a:solidFill>
            </a:endParaRPr>
          </a:p>
          <a:p>
            <a:pPr indent="0" lvl="0" marL="0" rtl="0" algn="ctr">
              <a:lnSpc>
                <a:spcPct val="150000"/>
              </a:lnSpc>
              <a:spcBef>
                <a:spcPts val="0"/>
              </a:spcBef>
              <a:spcAft>
                <a:spcPts val="0"/>
              </a:spcAft>
              <a:buNone/>
            </a:pPr>
            <a:r>
              <a:rPr b="1" lang="en" sz="4800">
                <a:solidFill>
                  <a:schemeClr val="dk1"/>
                </a:solidFill>
              </a:rPr>
              <a:t>Electrical and Computer Engineering Department</a:t>
            </a:r>
            <a:endParaRPr b="1" sz="4800">
              <a:solidFill>
                <a:schemeClr val="dk1"/>
              </a:solidFill>
            </a:endParaRPr>
          </a:p>
          <a:p>
            <a:pPr indent="0" lvl="0" marL="0" rtl="0" algn="l">
              <a:spcBef>
                <a:spcPts val="0"/>
              </a:spcBef>
              <a:spcAft>
                <a:spcPts val="0"/>
              </a:spcAft>
              <a:buNone/>
            </a:pPr>
            <a:r>
              <a:t/>
            </a:r>
            <a:endParaRPr sz="2500"/>
          </a:p>
          <a:p>
            <a:pPr indent="0" lvl="0" marL="0" rtl="0" algn="l">
              <a:spcBef>
                <a:spcPts val="0"/>
              </a:spcBef>
              <a:spcAft>
                <a:spcPts val="0"/>
              </a:spcAft>
              <a:buNone/>
            </a:pPr>
            <a:r>
              <a:rPr lang="en" sz="2500"/>
              <a:t>							</a:t>
            </a:r>
            <a:r>
              <a:rPr lang="en" sz="3958"/>
              <a:t>	</a:t>
            </a:r>
            <a:r>
              <a:rPr lang="en" sz="3958">
                <a:solidFill>
                  <a:schemeClr val="dk1"/>
                </a:solidFill>
              </a:rPr>
              <a:t>Date: March 30, 2026</a:t>
            </a:r>
            <a:endParaRPr sz="3958">
              <a:solidFill>
                <a:schemeClr val="dk1"/>
              </a:solidFill>
            </a:endParaRPr>
          </a:p>
          <a:p>
            <a:pPr indent="0" lvl="0" marL="0" rtl="0" algn="l">
              <a:spcBef>
                <a:spcPts val="0"/>
              </a:spcBef>
              <a:spcAft>
                <a:spcPts val="0"/>
              </a:spcAft>
              <a:buNone/>
            </a:pPr>
            <a:r>
              <a:t/>
            </a:r>
            <a:endParaRPr sz="3650">
              <a:solidFill>
                <a:schemeClr val="dk1"/>
              </a:solidFill>
            </a:endParaRPr>
          </a:p>
          <a:p>
            <a:pPr indent="0" lvl="0" marL="3200400" rtl="0" algn="l">
              <a:spcBef>
                <a:spcPts val="0"/>
              </a:spcBef>
              <a:spcAft>
                <a:spcPts val="0"/>
              </a:spcAft>
              <a:buNone/>
            </a:pPr>
            <a:r>
              <a:rPr lang="en" sz="3958">
                <a:solidFill>
                  <a:schemeClr val="dk1"/>
                </a:solidFill>
              </a:rPr>
              <a:t>Assignment 5: Literature Review(CS800)</a:t>
            </a:r>
            <a:endParaRPr sz="3958">
              <a:solidFill>
                <a:schemeClr val="dk1"/>
              </a:solidFill>
            </a:endParaRPr>
          </a:p>
          <a:p>
            <a:pPr indent="0" lvl="0" marL="0" rtl="0" algn="l">
              <a:spcBef>
                <a:spcPts val="0"/>
              </a:spcBef>
              <a:spcAft>
                <a:spcPts val="0"/>
              </a:spcAft>
              <a:buNone/>
            </a:pPr>
            <a:r>
              <a:t/>
            </a:r>
            <a:endParaRPr sz="3650"/>
          </a:p>
          <a:p>
            <a:pPr indent="0" lvl="0" marL="0" rtl="0" algn="ctr">
              <a:spcBef>
                <a:spcPts val="0"/>
              </a:spcBef>
              <a:spcAft>
                <a:spcPts val="0"/>
              </a:spcAft>
              <a:buNone/>
            </a:pPr>
            <a:r>
              <a:rPr lang="en" sz="3958"/>
              <a:t>LinkedIn: </a:t>
            </a:r>
            <a:r>
              <a:rPr lang="en" sz="3958" u="sng">
                <a:solidFill>
                  <a:schemeClr val="hlink"/>
                </a:solidFill>
                <a:hlinkClick r:id="rId5"/>
              </a:rPr>
              <a:t>https://www.linkedin.com/in/singh-anurudh/</a:t>
            </a:r>
            <a:endParaRPr sz="3958"/>
          </a:p>
          <a:p>
            <a:pPr indent="0" lvl="0" marL="0" rtl="0" algn="l">
              <a:spcBef>
                <a:spcPts val="0"/>
              </a:spcBef>
              <a:spcAft>
                <a:spcPts val="0"/>
              </a:spcAft>
              <a:buNone/>
            </a:pPr>
            <a:r>
              <a:t/>
            </a:r>
            <a:endParaRPr sz="2000"/>
          </a:p>
          <a:p>
            <a:pPr indent="0" lvl="0" marL="0" rtl="0" algn="ctr">
              <a:spcBef>
                <a:spcPts val="0"/>
              </a:spcBef>
              <a:spcAft>
                <a:spcPts val="0"/>
              </a:spcAft>
              <a:buNone/>
            </a:pPr>
            <a:r>
              <a:t/>
            </a:r>
            <a:endParaRPr sz="2000"/>
          </a:p>
          <a:p>
            <a:pPr indent="0" lvl="0" marL="0" rtl="0" algn="ctr">
              <a:spcBef>
                <a:spcPts val="0"/>
              </a:spcBef>
              <a:spcAft>
                <a:spcPts val="0"/>
              </a:spcAft>
              <a:buNone/>
            </a:pPr>
            <a:r>
              <a:t/>
            </a:r>
            <a:endParaRPr sz="2000"/>
          </a:p>
        </p:txBody>
      </p:sp>
      <p:sp>
        <p:nvSpPr>
          <p:cNvPr id="61" name="Google Shape;61;p13"/>
          <p:cNvSpPr txBox="1"/>
          <p:nvPr>
            <p:ph idx="12" type="sldNum"/>
          </p:nvPr>
        </p:nvSpPr>
        <p:spPr>
          <a:xfrm>
            <a:off x="8472450" y="4795402"/>
            <a:ext cx="548700" cy="285900"/>
          </a:xfrm>
          <a:prstGeom prst="rect">
            <a:avLst/>
          </a:prstGeom>
        </p:spPr>
        <p:txBody>
          <a:bodyPr anchorCtr="0" anchor="ctr" bIns="91425" lIns="91425" spcFirstLastPara="1" rIns="91425" wrap="square" tIns="91425">
            <a:normAutofit fontScale="77500" lnSpcReduction="20000"/>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4"/>
          <p:cNvSpPr txBox="1"/>
          <p:nvPr>
            <p:ph idx="1" type="subTitle"/>
          </p:nvPr>
        </p:nvSpPr>
        <p:spPr>
          <a:xfrm>
            <a:off x="130825" y="946575"/>
            <a:ext cx="8693400" cy="3371100"/>
          </a:xfrm>
          <a:prstGeom prst="rect">
            <a:avLst/>
          </a:prstGeom>
          <a:ln>
            <a:noFill/>
          </a:ln>
        </p:spPr>
        <p:txBody>
          <a:bodyPr anchorCtr="0" anchor="t" bIns="91425" lIns="91425" spcFirstLastPara="1" rIns="91425" wrap="square" tIns="91425">
            <a:normAutofit/>
          </a:bodyPr>
          <a:lstStyle/>
          <a:p>
            <a:pPr indent="0" lvl="0" marL="0" rtl="0" algn="ctr">
              <a:spcBef>
                <a:spcPts val="0"/>
              </a:spcBef>
              <a:spcAft>
                <a:spcPts val="0"/>
              </a:spcAft>
              <a:buNone/>
            </a:pPr>
            <a:r>
              <a:t/>
            </a:r>
            <a:endParaRPr sz="3211"/>
          </a:p>
          <a:p>
            <a:pPr indent="0" lvl="0" marL="0" rtl="0" algn="ctr">
              <a:spcBef>
                <a:spcPts val="0"/>
              </a:spcBef>
              <a:spcAft>
                <a:spcPts val="0"/>
              </a:spcAft>
              <a:buNone/>
            </a:pPr>
            <a:r>
              <a:t/>
            </a:r>
            <a:endParaRPr sz="2500"/>
          </a:p>
          <a:p>
            <a:pPr indent="0" lvl="0" marL="0" rtl="0" algn="ctr">
              <a:spcBef>
                <a:spcPts val="0"/>
              </a:spcBef>
              <a:spcAft>
                <a:spcPts val="0"/>
              </a:spcAft>
              <a:buNone/>
            </a:pPr>
            <a:r>
              <a:t/>
            </a:r>
            <a:endParaRPr sz="2500"/>
          </a:p>
          <a:p>
            <a:pPr indent="0" lvl="0" marL="0" rtl="0" algn="l">
              <a:spcBef>
                <a:spcPts val="0"/>
              </a:spcBef>
              <a:spcAft>
                <a:spcPts val="0"/>
              </a:spcAft>
              <a:buNone/>
            </a:pPr>
            <a:r>
              <a:t/>
            </a:r>
            <a:endParaRPr sz="2000"/>
          </a:p>
          <a:p>
            <a:pPr indent="0" lvl="0" marL="0" rtl="0" algn="ctr">
              <a:spcBef>
                <a:spcPts val="0"/>
              </a:spcBef>
              <a:spcAft>
                <a:spcPts val="0"/>
              </a:spcAft>
              <a:buNone/>
            </a:pPr>
            <a:r>
              <a:t/>
            </a:r>
            <a:endParaRPr sz="2000"/>
          </a:p>
          <a:p>
            <a:pPr indent="0" lvl="0" marL="0" rtl="0" algn="ctr">
              <a:spcBef>
                <a:spcPts val="0"/>
              </a:spcBef>
              <a:spcAft>
                <a:spcPts val="0"/>
              </a:spcAft>
              <a:buNone/>
            </a:pPr>
            <a:r>
              <a:t/>
            </a:r>
            <a:endParaRPr sz="2000"/>
          </a:p>
        </p:txBody>
      </p:sp>
      <p:sp>
        <p:nvSpPr>
          <p:cNvPr id="67" name="Google Shape;67;p14"/>
          <p:cNvSpPr txBox="1"/>
          <p:nvPr>
            <p:ph idx="12" type="sldNum"/>
          </p:nvPr>
        </p:nvSpPr>
        <p:spPr>
          <a:xfrm>
            <a:off x="8472450" y="4795402"/>
            <a:ext cx="548700" cy="285900"/>
          </a:xfrm>
          <a:prstGeom prst="rect">
            <a:avLst/>
          </a:prstGeom>
        </p:spPr>
        <p:txBody>
          <a:bodyPr anchorCtr="0" anchor="ctr" bIns="91425" lIns="91425" spcFirstLastPara="1" rIns="91425" wrap="square" tIns="91425">
            <a:normAutofit fontScale="77500" lnSpcReduction="20000"/>
          </a:bodyPr>
          <a:lstStyle/>
          <a:p>
            <a:pPr indent="0" lvl="0" marL="0" rtl="0" algn="r">
              <a:spcBef>
                <a:spcPts val="0"/>
              </a:spcBef>
              <a:spcAft>
                <a:spcPts val="0"/>
              </a:spcAft>
              <a:buNone/>
            </a:pPr>
            <a:fld id="{00000000-1234-1234-1234-123412341234}" type="slidenum">
              <a:rPr lang="en"/>
              <a:t>‹#›</a:t>
            </a:fld>
            <a:endParaRPr/>
          </a:p>
        </p:txBody>
      </p:sp>
      <p:pic>
        <p:nvPicPr>
          <p:cNvPr id="68" name="Google Shape;68;p14" title="network-02-00009-g001.png"/>
          <p:cNvPicPr preferRelativeResize="0"/>
          <p:nvPr/>
        </p:nvPicPr>
        <p:blipFill>
          <a:blip r:embed="rId3">
            <a:alphaModFix/>
          </a:blip>
          <a:stretch>
            <a:fillRect/>
          </a:stretch>
        </p:blipFill>
        <p:spPr>
          <a:xfrm>
            <a:off x="35450" y="781675"/>
            <a:ext cx="8906701" cy="3952851"/>
          </a:xfrm>
          <a:prstGeom prst="rect">
            <a:avLst/>
          </a:prstGeom>
          <a:noFill/>
          <a:ln>
            <a:noFill/>
          </a:ln>
        </p:spPr>
      </p:pic>
      <p:sp>
        <p:nvSpPr>
          <p:cNvPr id="69" name="Google Shape;69;p14"/>
          <p:cNvSpPr txBox="1"/>
          <p:nvPr/>
        </p:nvSpPr>
        <p:spPr>
          <a:xfrm>
            <a:off x="117975" y="23600"/>
            <a:ext cx="7015200" cy="45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2"/>
                </a:solidFill>
              </a:rPr>
              <a:t>Automation Systems for Modern and Autonomous Ships</a:t>
            </a:r>
            <a:endParaRPr b="1" sz="18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5"/>
          <p:cNvSpPr txBox="1"/>
          <p:nvPr>
            <p:ph type="title"/>
          </p:nvPr>
        </p:nvSpPr>
        <p:spPr>
          <a:xfrm>
            <a:off x="154386" y="36050"/>
            <a:ext cx="7946100" cy="572700"/>
          </a:xfrm>
          <a:prstGeom prst="rect">
            <a:avLst/>
          </a:prstGeom>
          <a:noFill/>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1C4587"/>
                </a:solidFill>
              </a:rPr>
              <a:t>The Core problem: The Silent Maritime Threat</a:t>
            </a:r>
            <a:endParaRPr b="1">
              <a:solidFill>
                <a:srgbClr val="1C4587"/>
              </a:solidFill>
            </a:endParaRPr>
          </a:p>
        </p:txBody>
      </p:sp>
      <p:sp>
        <p:nvSpPr>
          <p:cNvPr id="75" name="Google Shape;75;p15"/>
          <p:cNvSpPr txBox="1"/>
          <p:nvPr>
            <p:ph idx="1" type="body"/>
          </p:nvPr>
        </p:nvSpPr>
        <p:spPr>
          <a:xfrm>
            <a:off x="311700" y="464025"/>
            <a:ext cx="8832300" cy="4262700"/>
          </a:xfrm>
          <a:prstGeom prst="rect">
            <a:avLst/>
          </a:prstGeom>
        </p:spPr>
        <p:txBody>
          <a:bodyPr anchorCtr="0" anchor="t" bIns="91425" lIns="91425" spcFirstLastPara="1" rIns="91425" wrap="square" tIns="91425">
            <a:normAutofit/>
          </a:bodyPr>
          <a:lstStyle/>
          <a:p>
            <a:pPr indent="0" lvl="0" marL="0" rtl="0" algn="l">
              <a:lnSpc>
                <a:spcPct val="100000"/>
              </a:lnSpc>
              <a:spcBef>
                <a:spcPts val="800"/>
              </a:spcBef>
              <a:spcAft>
                <a:spcPts val="0"/>
              </a:spcAft>
              <a:buClr>
                <a:schemeClr val="dk1"/>
              </a:buClr>
              <a:buSzPts val="1100"/>
              <a:buFont typeface="Arial"/>
              <a:buNone/>
            </a:pPr>
            <a:r>
              <a:rPr b="1" lang="en" sz="1100">
                <a:solidFill>
                  <a:schemeClr val="dk1"/>
                </a:solidFill>
              </a:rPr>
              <a:t>The Vulnerable Maritime Backbone</a:t>
            </a:r>
            <a:endParaRPr b="1" sz="1100">
              <a:solidFill>
                <a:schemeClr val="dk1"/>
              </a:solidFill>
            </a:endParaRPr>
          </a:p>
          <a:p>
            <a:pPr indent="0" lvl="0" marL="0" rtl="0" algn="l">
              <a:lnSpc>
                <a:spcPct val="100000"/>
              </a:lnSpc>
              <a:spcBef>
                <a:spcPts val="800"/>
              </a:spcBef>
              <a:spcAft>
                <a:spcPts val="0"/>
              </a:spcAft>
              <a:buClr>
                <a:schemeClr val="dk1"/>
              </a:buClr>
              <a:buSzPts val="1100"/>
              <a:buFont typeface="Arial"/>
              <a:buNone/>
            </a:pPr>
            <a:r>
              <a:t/>
            </a:r>
            <a:endParaRPr/>
          </a:p>
        </p:txBody>
      </p:sp>
      <p:sp>
        <p:nvSpPr>
          <p:cNvPr id="76" name="Google Shape;76;p15"/>
          <p:cNvSpPr txBox="1"/>
          <p:nvPr>
            <p:ph idx="12" type="sldNum"/>
          </p:nvPr>
        </p:nvSpPr>
        <p:spPr>
          <a:xfrm>
            <a:off x="8472450" y="4795402"/>
            <a:ext cx="548700" cy="285900"/>
          </a:xfrm>
          <a:prstGeom prst="rect">
            <a:avLst/>
          </a:prstGeom>
        </p:spPr>
        <p:txBody>
          <a:bodyPr anchorCtr="0" anchor="ctr" bIns="91425" lIns="91425" spcFirstLastPara="1" rIns="91425" wrap="square" tIns="91425">
            <a:normAutofit fontScale="77500" lnSpcReduction="20000"/>
          </a:bodyPr>
          <a:lstStyle/>
          <a:p>
            <a:pPr indent="0" lvl="0" marL="0" rtl="0" algn="r">
              <a:spcBef>
                <a:spcPts val="0"/>
              </a:spcBef>
              <a:spcAft>
                <a:spcPts val="0"/>
              </a:spcAft>
              <a:buNone/>
            </a:pPr>
            <a:fld id="{00000000-1234-1234-1234-123412341234}" type="slidenum">
              <a:rPr lang="en"/>
              <a:t>‹#›</a:t>
            </a:fld>
            <a:endParaRPr/>
          </a:p>
        </p:txBody>
      </p:sp>
      <p:pic>
        <p:nvPicPr>
          <p:cNvPr id="77" name="Google Shape;77;p15" title="CruiseShipGraphic-attack-surface-768x550-1.png"/>
          <p:cNvPicPr preferRelativeResize="0"/>
          <p:nvPr/>
        </p:nvPicPr>
        <p:blipFill>
          <a:blip r:embed="rId3">
            <a:alphaModFix/>
          </a:blip>
          <a:stretch>
            <a:fillRect/>
          </a:stretch>
        </p:blipFill>
        <p:spPr>
          <a:xfrm>
            <a:off x="4572000" y="542675"/>
            <a:ext cx="4572000" cy="4184000"/>
          </a:xfrm>
          <a:prstGeom prst="rect">
            <a:avLst/>
          </a:prstGeom>
          <a:noFill/>
          <a:ln>
            <a:noFill/>
          </a:ln>
        </p:spPr>
      </p:pic>
      <p:sp>
        <p:nvSpPr>
          <p:cNvPr id="78" name="Google Shape;78;p15"/>
          <p:cNvSpPr txBox="1"/>
          <p:nvPr/>
        </p:nvSpPr>
        <p:spPr>
          <a:xfrm>
            <a:off x="311700" y="933800"/>
            <a:ext cx="3924600" cy="193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1"/>
                </a:solidFill>
              </a:rPr>
              <a:t>$7 Trillion:</a:t>
            </a:r>
            <a:r>
              <a:rPr lang="en" sz="1000">
                <a:solidFill>
                  <a:schemeClr val="dk1"/>
                </a:solidFill>
              </a:rPr>
              <a:t> Value moved by Global Maritime Transportation System (GMTS).</a:t>
            </a:r>
            <a:endParaRPr sz="1000">
              <a:solidFill>
                <a:schemeClr val="dk1"/>
              </a:solidFill>
            </a:endParaRPr>
          </a:p>
          <a:p>
            <a:pPr indent="0" lvl="0" marL="0" rtl="0" algn="l">
              <a:spcBef>
                <a:spcPts val="0"/>
              </a:spcBef>
              <a:spcAft>
                <a:spcPts val="0"/>
              </a:spcAft>
              <a:buClr>
                <a:schemeClr val="dk1"/>
              </a:buClr>
              <a:buSzPts val="1100"/>
              <a:buFont typeface="Arial"/>
              <a:buNone/>
            </a:pPr>
            <a:r>
              <a:t/>
            </a:r>
            <a:endParaRPr sz="1000">
              <a:solidFill>
                <a:schemeClr val="dk1"/>
              </a:solidFill>
            </a:endParaRPr>
          </a:p>
          <a:p>
            <a:pPr indent="0" lvl="0" marL="0" rtl="0" algn="l">
              <a:spcBef>
                <a:spcPts val="0"/>
              </a:spcBef>
              <a:spcAft>
                <a:spcPts val="0"/>
              </a:spcAft>
              <a:buNone/>
            </a:pPr>
            <a:r>
              <a:rPr b="1" lang="en" sz="1000">
                <a:solidFill>
                  <a:schemeClr val="dk1"/>
                </a:solidFill>
              </a:rPr>
              <a:t>The Conflict:</a:t>
            </a:r>
            <a:r>
              <a:rPr lang="en" sz="1000">
                <a:solidFill>
                  <a:schemeClr val="dk1"/>
                </a:solidFill>
              </a:rPr>
              <a:t> Highly critical, yet technologically fragile.</a:t>
            </a:r>
            <a:endParaRPr sz="1000">
              <a:solidFill>
                <a:schemeClr val="dk1"/>
              </a:solidFill>
            </a:endParaRPr>
          </a:p>
          <a:p>
            <a:pPr indent="0" lvl="0" marL="0" rtl="0" algn="l">
              <a:spcBef>
                <a:spcPts val="0"/>
              </a:spcBef>
              <a:spcAft>
                <a:spcPts val="0"/>
              </a:spcAft>
              <a:buClr>
                <a:schemeClr val="dk1"/>
              </a:buClr>
              <a:buSzPts val="1100"/>
              <a:buFont typeface="Arial"/>
              <a:buNone/>
            </a:pPr>
            <a:r>
              <a:t/>
            </a:r>
            <a:endParaRPr sz="1000">
              <a:solidFill>
                <a:schemeClr val="dk1"/>
              </a:solidFill>
            </a:endParaRPr>
          </a:p>
          <a:p>
            <a:pPr indent="0" lvl="0" marL="0" rtl="0" algn="l">
              <a:spcBef>
                <a:spcPts val="0"/>
              </a:spcBef>
              <a:spcAft>
                <a:spcPts val="0"/>
              </a:spcAft>
              <a:buNone/>
            </a:pPr>
            <a:r>
              <a:rPr b="1" lang="en" sz="1000">
                <a:solidFill>
                  <a:schemeClr val="dk1"/>
                </a:solidFill>
              </a:rPr>
              <a:t>Aging Fleets:</a:t>
            </a:r>
            <a:r>
              <a:rPr lang="en" sz="1000">
                <a:solidFill>
                  <a:schemeClr val="dk1"/>
                </a:solidFill>
              </a:rPr>
              <a:t> Legacy operational technology (OT) is now online.</a:t>
            </a:r>
            <a:endParaRPr sz="1000">
              <a:solidFill>
                <a:schemeClr val="dk1"/>
              </a:solidFill>
            </a:endParaRPr>
          </a:p>
          <a:p>
            <a:pPr indent="0" lvl="0" marL="0" rtl="0" algn="l">
              <a:spcBef>
                <a:spcPts val="0"/>
              </a:spcBef>
              <a:spcAft>
                <a:spcPts val="0"/>
              </a:spcAft>
              <a:buClr>
                <a:schemeClr val="dk1"/>
              </a:buClr>
              <a:buSzPts val="1100"/>
              <a:buFont typeface="Arial"/>
              <a:buNone/>
            </a:pPr>
            <a:r>
              <a:t/>
            </a:r>
            <a:endParaRPr sz="1000">
              <a:solidFill>
                <a:schemeClr val="dk1"/>
              </a:solidFill>
            </a:endParaRPr>
          </a:p>
          <a:p>
            <a:pPr indent="0" lvl="0" marL="0" rtl="0" algn="l">
              <a:spcBef>
                <a:spcPts val="0"/>
              </a:spcBef>
              <a:spcAft>
                <a:spcPts val="0"/>
              </a:spcAft>
              <a:buNone/>
            </a:pPr>
            <a:r>
              <a:rPr b="1" lang="en" sz="1000">
                <a:solidFill>
                  <a:schemeClr val="dk1"/>
                </a:solidFill>
              </a:rPr>
              <a:t>Low Maturity:</a:t>
            </a:r>
            <a:r>
              <a:rPr lang="en" sz="1000">
                <a:solidFill>
                  <a:schemeClr val="dk1"/>
                </a:solidFill>
              </a:rPr>
              <a:t> Cyber security awareness in the sector is historically low.</a:t>
            </a:r>
            <a:endParaRPr sz="1000">
              <a:solidFill>
                <a:schemeClr val="dk1"/>
              </a:solidFill>
            </a:endParaRPr>
          </a:p>
          <a:p>
            <a:pPr indent="0" lvl="0" marL="0" rtl="0" algn="l">
              <a:spcBef>
                <a:spcPts val="0"/>
              </a:spcBef>
              <a:spcAft>
                <a:spcPts val="0"/>
              </a:spcAft>
              <a:buClr>
                <a:schemeClr val="dk1"/>
              </a:buClr>
              <a:buSzPts val="1100"/>
              <a:buFont typeface="Arial"/>
              <a:buNone/>
            </a:pPr>
            <a:r>
              <a:t/>
            </a:r>
            <a:endParaRPr sz="1000">
              <a:solidFill>
                <a:schemeClr val="dk1"/>
              </a:solidFill>
            </a:endParaRPr>
          </a:p>
          <a:p>
            <a:pPr indent="0" lvl="0" marL="0" rtl="0" algn="l">
              <a:spcBef>
                <a:spcPts val="0"/>
              </a:spcBef>
              <a:spcAft>
                <a:spcPts val="0"/>
              </a:spcAft>
              <a:buClr>
                <a:schemeClr val="dk1"/>
              </a:buClr>
              <a:buSzPts val="1100"/>
              <a:buFont typeface="Arial"/>
              <a:buNone/>
            </a:pPr>
            <a:r>
              <a:rPr b="1" lang="en" sz="1000">
                <a:solidFill>
                  <a:schemeClr val="dk1"/>
                </a:solidFill>
              </a:rPr>
              <a:t>The Result:</a:t>
            </a:r>
            <a:r>
              <a:rPr lang="en" sz="1000">
                <a:solidFill>
                  <a:schemeClr val="dk1"/>
                </a:solidFill>
              </a:rPr>
              <a:t> Increasing, unreported, and misunderstood attacks.</a:t>
            </a:r>
            <a:endParaRPr sz="1000">
              <a:solidFill>
                <a:schemeClr val="dk1"/>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6"/>
          <p:cNvSpPr txBox="1"/>
          <p:nvPr>
            <p:ph type="title"/>
          </p:nvPr>
        </p:nvSpPr>
        <p:spPr>
          <a:xfrm>
            <a:off x="0" y="0"/>
            <a:ext cx="80613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100">
                <a:solidFill>
                  <a:srgbClr val="1C4587"/>
                </a:solidFill>
              </a:rPr>
              <a:t>Paper 1 - The Architect’s View</a:t>
            </a:r>
            <a:endParaRPr b="1" sz="2100">
              <a:solidFill>
                <a:srgbClr val="1C4587"/>
              </a:solidFill>
            </a:endParaRPr>
          </a:p>
        </p:txBody>
      </p:sp>
      <p:sp>
        <p:nvSpPr>
          <p:cNvPr id="84" name="Google Shape;84;p16"/>
          <p:cNvSpPr txBox="1"/>
          <p:nvPr>
            <p:ph idx="1" type="body"/>
          </p:nvPr>
        </p:nvSpPr>
        <p:spPr>
          <a:xfrm>
            <a:off x="70775" y="487600"/>
            <a:ext cx="8950500" cy="4239000"/>
          </a:xfrm>
          <a:prstGeom prst="rect">
            <a:avLst/>
          </a:prstGeom>
        </p:spPr>
        <p:txBody>
          <a:bodyPr anchorCtr="0" anchor="t" bIns="91425" lIns="91425" spcFirstLastPara="1" rIns="91425" wrap="square" tIns="91425">
            <a:normAutofit/>
          </a:bodyPr>
          <a:lstStyle/>
          <a:p>
            <a:pPr indent="0" lvl="0" marL="0" rtl="0" algn="l">
              <a:spcBef>
                <a:spcPts val="800"/>
              </a:spcBef>
              <a:spcAft>
                <a:spcPts val="0"/>
              </a:spcAft>
              <a:buClr>
                <a:schemeClr val="dk1"/>
              </a:buClr>
              <a:buSzPts val="1100"/>
              <a:buFont typeface="Arial"/>
              <a:buNone/>
            </a:pPr>
            <a:r>
              <a:rPr b="1" lang="en" sz="1200">
                <a:solidFill>
                  <a:schemeClr val="dk1"/>
                </a:solidFill>
              </a:rPr>
              <a:t>Paper:</a:t>
            </a:r>
            <a:r>
              <a:rPr lang="en" sz="1200">
                <a:solidFill>
                  <a:schemeClr val="dk1"/>
                </a:solidFill>
              </a:rPr>
              <a:t> </a:t>
            </a:r>
            <a:r>
              <a:rPr i="1" lang="en" sz="1100">
                <a:solidFill>
                  <a:schemeClr val="dk1"/>
                </a:solidFill>
              </a:rPr>
              <a:t>A Ship Honeynet to Gather Cyber Threat Intelligence for the Maritime Sector</a:t>
            </a:r>
            <a:r>
              <a:rPr lang="en" sz="1100">
                <a:solidFill>
                  <a:schemeClr val="dk1"/>
                </a:solidFill>
              </a:rPr>
              <a:t> (2023)</a:t>
            </a:r>
            <a:endParaRPr/>
          </a:p>
          <a:p>
            <a:pPr indent="0" lvl="0" marL="0" rtl="0" algn="l">
              <a:spcBef>
                <a:spcPts val="0"/>
              </a:spcBef>
              <a:spcAft>
                <a:spcPts val="0"/>
              </a:spcAft>
              <a:buClr>
                <a:schemeClr val="dk1"/>
              </a:buClr>
              <a:buSzPts val="1100"/>
              <a:buFont typeface="Arial"/>
              <a:buNone/>
            </a:pPr>
            <a:r>
              <a:rPr b="1" lang="en" sz="1100">
                <a:solidFill>
                  <a:schemeClr val="dk1"/>
                </a:solidFill>
              </a:rPr>
              <a:t>The Concept:</a:t>
            </a:r>
            <a:r>
              <a:rPr lang="en" sz="1100">
                <a:solidFill>
                  <a:schemeClr val="dk1"/>
                </a:solidFill>
              </a:rPr>
              <a:t> Creating a comprehensive "Ship Honeynet" to protect the GMTS.</a:t>
            </a:r>
            <a:endParaRPr sz="1100">
              <a:solidFill>
                <a:schemeClr val="dk1"/>
              </a:solidFill>
            </a:endParaRPr>
          </a:p>
          <a:p>
            <a:pPr indent="0" lvl="0" marL="0" rtl="0" algn="l">
              <a:spcBef>
                <a:spcPts val="1200"/>
              </a:spcBef>
              <a:spcAft>
                <a:spcPts val="0"/>
              </a:spcAft>
              <a:buClr>
                <a:schemeClr val="dk1"/>
              </a:buClr>
              <a:buSzPts val="1100"/>
              <a:buFont typeface="Arial"/>
              <a:buNone/>
            </a:pPr>
            <a:r>
              <a:rPr b="1" lang="en" sz="1100">
                <a:solidFill>
                  <a:schemeClr val="dk1"/>
                </a:solidFill>
              </a:rPr>
              <a:t>The Environment:</a:t>
            </a:r>
            <a:r>
              <a:rPr lang="en" sz="1100">
                <a:solidFill>
                  <a:schemeClr val="dk1"/>
                </a:solidFill>
              </a:rPr>
              <a:t> Modern ships operate as "floating cities" (convergence of IT and Operational Technology).</a:t>
            </a:r>
            <a:endParaRPr sz="1100">
              <a:solidFill>
                <a:schemeClr val="dk1"/>
              </a:solidFill>
            </a:endParaRPr>
          </a:p>
          <a:p>
            <a:pPr indent="0" lvl="0" marL="0" rtl="0" algn="l">
              <a:spcBef>
                <a:spcPts val="1200"/>
              </a:spcBef>
              <a:spcAft>
                <a:spcPts val="1200"/>
              </a:spcAft>
              <a:buClr>
                <a:schemeClr val="dk1"/>
              </a:buClr>
              <a:buSzPts val="1100"/>
              <a:buFont typeface="Arial"/>
              <a:buNone/>
            </a:pPr>
            <a:r>
              <a:rPr b="1" lang="en" sz="1100">
                <a:solidFill>
                  <a:schemeClr val="dk1"/>
                </a:solidFill>
              </a:rPr>
              <a:t>The Goal:</a:t>
            </a:r>
            <a:r>
              <a:rPr lang="en" sz="1100">
                <a:solidFill>
                  <a:schemeClr val="dk1"/>
                </a:solidFill>
              </a:rPr>
              <a:t> Generate actionable Cyber Threat Intelligence (CTI) using standardized frameworks (STIX/TAXII).</a:t>
            </a:r>
            <a:endParaRPr b="1" sz="1100">
              <a:solidFill>
                <a:schemeClr val="dk1"/>
              </a:solidFill>
            </a:endParaRPr>
          </a:p>
        </p:txBody>
      </p:sp>
      <p:sp>
        <p:nvSpPr>
          <p:cNvPr id="85" name="Google Shape;85;p16"/>
          <p:cNvSpPr txBox="1"/>
          <p:nvPr>
            <p:ph idx="12" type="sldNum"/>
          </p:nvPr>
        </p:nvSpPr>
        <p:spPr>
          <a:xfrm>
            <a:off x="8472450" y="4795402"/>
            <a:ext cx="548700" cy="285900"/>
          </a:xfrm>
          <a:prstGeom prst="rect">
            <a:avLst/>
          </a:prstGeom>
        </p:spPr>
        <p:txBody>
          <a:bodyPr anchorCtr="0" anchor="ctr" bIns="91425" lIns="91425" spcFirstLastPara="1" rIns="91425" wrap="square" tIns="91425">
            <a:normAutofit fontScale="77500" lnSpcReduction="20000"/>
          </a:bodyPr>
          <a:lstStyle/>
          <a:p>
            <a:pPr indent="0" lvl="0" marL="0" rtl="0" algn="r">
              <a:spcBef>
                <a:spcPts val="0"/>
              </a:spcBef>
              <a:spcAft>
                <a:spcPts val="0"/>
              </a:spcAft>
              <a:buNone/>
            </a:pPr>
            <a:fld id="{00000000-1234-1234-1234-123412341234}" type="slidenum">
              <a:rPr lang="en"/>
              <a:t>‹#›</a:t>
            </a:fld>
            <a:endParaRPr/>
          </a:p>
        </p:txBody>
      </p:sp>
      <p:pic>
        <p:nvPicPr>
          <p:cNvPr id="86" name="Google Shape;86;p16" title="pijpk2-1570928306-small.gif"/>
          <p:cNvPicPr preferRelativeResize="0"/>
          <p:nvPr/>
        </p:nvPicPr>
        <p:blipFill>
          <a:blip r:embed="rId3">
            <a:alphaModFix/>
          </a:blip>
          <a:stretch>
            <a:fillRect/>
          </a:stretch>
        </p:blipFill>
        <p:spPr>
          <a:xfrm>
            <a:off x="6802950" y="487600"/>
            <a:ext cx="2325325" cy="2563901"/>
          </a:xfrm>
          <a:prstGeom prst="rect">
            <a:avLst/>
          </a:prstGeom>
          <a:noFill/>
          <a:ln>
            <a:noFill/>
          </a:ln>
        </p:spPr>
      </p:pic>
      <p:sp>
        <p:nvSpPr>
          <p:cNvPr id="87" name="Google Shape;87;p16"/>
          <p:cNvSpPr txBox="1"/>
          <p:nvPr/>
        </p:nvSpPr>
        <p:spPr>
          <a:xfrm>
            <a:off x="6724300" y="3067225"/>
            <a:ext cx="2403900" cy="285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00">
                <a:solidFill>
                  <a:schemeClr val="dk1"/>
                </a:solidFill>
              </a:rPr>
              <a:t>Figure: </a:t>
            </a:r>
            <a:r>
              <a:rPr lang="en" sz="900">
                <a:solidFill>
                  <a:schemeClr val="dk1"/>
                </a:solidFill>
                <a:highlight>
                  <a:srgbClr val="FFFFFF"/>
                </a:highlight>
                <a:latin typeface="Verdana"/>
                <a:ea typeface="Verdana"/>
                <a:cs typeface="Verdana"/>
                <a:sym typeface="Verdana"/>
              </a:rPr>
              <a:t>Minimal architectural drawing of the ship Honeynet</a:t>
            </a:r>
            <a:endParaRPr sz="900">
              <a:solidFill>
                <a:schemeClr val="dk1"/>
              </a:solidFill>
            </a:endParaRPr>
          </a:p>
        </p:txBody>
      </p:sp>
      <p:pic>
        <p:nvPicPr>
          <p:cNvPr id="88" name="Google Shape;88;p16" title="pijpk1-1570928306-large.gif"/>
          <p:cNvPicPr preferRelativeResize="0"/>
          <p:nvPr/>
        </p:nvPicPr>
        <p:blipFill>
          <a:blip r:embed="rId4">
            <a:alphaModFix/>
          </a:blip>
          <a:stretch>
            <a:fillRect/>
          </a:stretch>
        </p:blipFill>
        <p:spPr>
          <a:xfrm>
            <a:off x="216025" y="2271675"/>
            <a:ext cx="5758950" cy="1654075"/>
          </a:xfrm>
          <a:prstGeom prst="rect">
            <a:avLst/>
          </a:prstGeom>
          <a:noFill/>
          <a:ln>
            <a:noFill/>
          </a:ln>
        </p:spPr>
      </p:pic>
      <p:sp>
        <p:nvSpPr>
          <p:cNvPr id="89" name="Google Shape;89;p16"/>
          <p:cNvSpPr txBox="1"/>
          <p:nvPr/>
        </p:nvSpPr>
        <p:spPr>
          <a:xfrm>
            <a:off x="1545975" y="4176350"/>
            <a:ext cx="46380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2"/>
                </a:solidFill>
              </a:rPr>
              <a:t>Figure: Five Block ship Honeynet architecture based on “System Design Architecture”</a:t>
            </a:r>
            <a:endParaRPr sz="9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7"/>
          <p:cNvSpPr txBox="1"/>
          <p:nvPr>
            <p:ph type="title"/>
          </p:nvPr>
        </p:nvSpPr>
        <p:spPr>
          <a:xfrm>
            <a:off x="0" y="0"/>
            <a:ext cx="80613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100">
                <a:solidFill>
                  <a:srgbClr val="1C4587"/>
                </a:solidFill>
              </a:rPr>
              <a:t>Transition: The Implementation Gap</a:t>
            </a:r>
            <a:endParaRPr b="1" sz="2100">
              <a:solidFill>
                <a:srgbClr val="1C4587"/>
              </a:solidFill>
            </a:endParaRPr>
          </a:p>
        </p:txBody>
      </p:sp>
      <p:sp>
        <p:nvSpPr>
          <p:cNvPr id="95" name="Google Shape;95;p17"/>
          <p:cNvSpPr txBox="1"/>
          <p:nvPr>
            <p:ph idx="1" type="body"/>
          </p:nvPr>
        </p:nvSpPr>
        <p:spPr>
          <a:xfrm>
            <a:off x="70775" y="613325"/>
            <a:ext cx="4703400" cy="4113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100">
                <a:solidFill>
                  <a:schemeClr val="dk1"/>
                </a:solidFill>
              </a:rPr>
              <a:t>The Limitation:</a:t>
            </a:r>
            <a:r>
              <a:rPr lang="en" sz="1100">
                <a:solidFill>
                  <a:schemeClr val="dk1"/>
                </a:solidFill>
              </a:rPr>
              <a:t> Total-ship emulation is highly complex, resource-intensive, and difficult to deploy at scale.</a:t>
            </a:r>
            <a:endParaRPr sz="1100">
              <a:solidFill>
                <a:schemeClr val="dk1"/>
              </a:solidFill>
            </a:endParaRPr>
          </a:p>
          <a:p>
            <a:pPr indent="0" lvl="0" marL="0" rtl="0" algn="l">
              <a:spcBef>
                <a:spcPts val="1200"/>
              </a:spcBef>
              <a:spcAft>
                <a:spcPts val="0"/>
              </a:spcAft>
              <a:buClr>
                <a:schemeClr val="dk1"/>
              </a:buClr>
              <a:buSzPts val="1100"/>
              <a:buFont typeface="Arial"/>
              <a:buNone/>
            </a:pPr>
            <a:r>
              <a:rPr b="1" lang="en" sz="1100">
                <a:solidFill>
                  <a:schemeClr val="dk1"/>
                </a:solidFill>
              </a:rPr>
              <a:t>The Shift:</a:t>
            </a:r>
            <a:r>
              <a:rPr lang="en" sz="1100">
                <a:solidFill>
                  <a:schemeClr val="dk1"/>
                </a:solidFill>
              </a:rPr>
              <a:t> Moving from internal network complexity to edge-network vulnerability.</a:t>
            </a:r>
            <a:endParaRPr sz="1100">
              <a:solidFill>
                <a:schemeClr val="dk1"/>
              </a:solidFill>
            </a:endParaRPr>
          </a:p>
          <a:p>
            <a:pPr indent="0" lvl="0" marL="0" rtl="0" algn="l">
              <a:spcBef>
                <a:spcPts val="1200"/>
              </a:spcBef>
              <a:spcAft>
                <a:spcPts val="0"/>
              </a:spcAft>
              <a:buClr>
                <a:schemeClr val="dk1"/>
              </a:buClr>
              <a:buSzPts val="1100"/>
              <a:buFont typeface="Arial"/>
              <a:buNone/>
            </a:pPr>
            <a:r>
              <a:rPr b="1" lang="en" sz="1100">
                <a:solidFill>
                  <a:schemeClr val="dk1"/>
                </a:solidFill>
              </a:rPr>
              <a:t>The Critical Node:</a:t>
            </a:r>
            <a:r>
              <a:rPr lang="en" sz="1100">
                <a:solidFill>
                  <a:schemeClr val="dk1"/>
                </a:solidFill>
              </a:rPr>
              <a:t> Satellite communications (VSAT) represent the most exposed entry point for external attackers.</a:t>
            </a:r>
            <a:endParaRPr sz="1100">
              <a:solidFill>
                <a:schemeClr val="dk1"/>
              </a:solidFill>
            </a:endParaRPr>
          </a:p>
          <a:p>
            <a:pPr indent="0" lvl="0" marL="0" rtl="0" algn="l">
              <a:spcBef>
                <a:spcPts val="1200"/>
              </a:spcBef>
              <a:spcAft>
                <a:spcPts val="1200"/>
              </a:spcAft>
              <a:buClr>
                <a:schemeClr val="dk1"/>
              </a:buClr>
              <a:buSzPts val="1100"/>
              <a:buFont typeface="Arial"/>
              <a:buNone/>
            </a:pPr>
            <a:r>
              <a:rPr b="1" lang="en" sz="1100">
                <a:solidFill>
                  <a:schemeClr val="dk1"/>
                </a:solidFill>
              </a:rPr>
              <a:t>The Need:</a:t>
            </a:r>
            <a:r>
              <a:rPr lang="en" sz="1100">
                <a:solidFill>
                  <a:schemeClr val="dk1"/>
                </a:solidFill>
              </a:rPr>
              <a:t> A focused, practical implementation targeting the most exposed maritime interface.</a:t>
            </a:r>
            <a:endParaRPr sz="1100">
              <a:solidFill>
                <a:schemeClr val="dk1"/>
              </a:solidFill>
            </a:endParaRPr>
          </a:p>
        </p:txBody>
      </p:sp>
      <p:sp>
        <p:nvSpPr>
          <p:cNvPr id="96" name="Google Shape;96;p17"/>
          <p:cNvSpPr txBox="1"/>
          <p:nvPr>
            <p:ph idx="12" type="sldNum"/>
          </p:nvPr>
        </p:nvSpPr>
        <p:spPr>
          <a:xfrm>
            <a:off x="8472450" y="4795402"/>
            <a:ext cx="548700" cy="285900"/>
          </a:xfrm>
          <a:prstGeom prst="rect">
            <a:avLst/>
          </a:prstGeom>
        </p:spPr>
        <p:txBody>
          <a:bodyPr anchorCtr="0" anchor="ctr" bIns="91425" lIns="91425" spcFirstLastPara="1" rIns="91425" wrap="square" tIns="91425">
            <a:normAutofit fontScale="77500" lnSpcReduction="20000"/>
          </a:bodyPr>
          <a:lstStyle/>
          <a:p>
            <a:pPr indent="0" lvl="0" marL="0" rtl="0" algn="r">
              <a:spcBef>
                <a:spcPts val="0"/>
              </a:spcBef>
              <a:spcAft>
                <a:spcPts val="0"/>
              </a:spcAft>
              <a:buNone/>
            </a:pPr>
            <a:fld id="{00000000-1234-1234-1234-123412341234}" type="slidenum">
              <a:rPr lang="en"/>
              <a:t>‹#›</a:t>
            </a:fld>
            <a:endParaRPr/>
          </a:p>
        </p:txBody>
      </p:sp>
      <p:pic>
        <p:nvPicPr>
          <p:cNvPr id="97" name="Google Shape;97;p17" title="ChatGPT Image Mar 30, 2026, 11_56_46 AM.png"/>
          <p:cNvPicPr preferRelativeResize="0"/>
          <p:nvPr/>
        </p:nvPicPr>
        <p:blipFill>
          <a:blip r:embed="rId3">
            <a:alphaModFix/>
          </a:blip>
          <a:stretch>
            <a:fillRect/>
          </a:stretch>
        </p:blipFill>
        <p:spPr>
          <a:xfrm>
            <a:off x="4926575" y="725100"/>
            <a:ext cx="4065024" cy="3096300"/>
          </a:xfrm>
          <a:prstGeom prst="rect">
            <a:avLst/>
          </a:prstGeom>
          <a:noFill/>
          <a:ln>
            <a:noFill/>
          </a:ln>
        </p:spPr>
      </p:pic>
      <p:sp>
        <p:nvSpPr>
          <p:cNvPr id="98" name="Google Shape;98;p17"/>
          <p:cNvSpPr txBox="1"/>
          <p:nvPr/>
        </p:nvSpPr>
        <p:spPr>
          <a:xfrm>
            <a:off x="5039225" y="3945125"/>
            <a:ext cx="39063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2"/>
                </a:solidFill>
              </a:rPr>
              <a:t>Figure: Comparison of network security architectures: a large-scale, distributed network (Paper 1) versus a single-device, critical entry point design (Paper 2).</a:t>
            </a:r>
            <a:endParaRPr sz="90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8"/>
          <p:cNvSpPr txBox="1"/>
          <p:nvPr>
            <p:ph type="title"/>
          </p:nvPr>
        </p:nvSpPr>
        <p:spPr>
          <a:xfrm>
            <a:off x="0" y="0"/>
            <a:ext cx="80613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100">
                <a:solidFill>
                  <a:srgbClr val="1C4587"/>
                </a:solidFill>
              </a:rPr>
              <a:t>Paper 2 - The Specialist’s Execution</a:t>
            </a:r>
            <a:endParaRPr b="1" sz="2100">
              <a:solidFill>
                <a:srgbClr val="1C4587"/>
              </a:solidFill>
            </a:endParaRPr>
          </a:p>
        </p:txBody>
      </p:sp>
      <p:sp>
        <p:nvSpPr>
          <p:cNvPr id="104" name="Google Shape;104;p18"/>
          <p:cNvSpPr txBox="1"/>
          <p:nvPr>
            <p:ph idx="1" type="body"/>
          </p:nvPr>
        </p:nvSpPr>
        <p:spPr>
          <a:xfrm>
            <a:off x="70775" y="572700"/>
            <a:ext cx="5304300" cy="4153800"/>
          </a:xfrm>
          <a:prstGeom prst="rect">
            <a:avLst/>
          </a:prstGeom>
          <a:ln>
            <a:noFill/>
          </a:ln>
        </p:spPr>
        <p:txBody>
          <a:bodyPr anchorCtr="0" anchor="t" bIns="91425" lIns="91425" spcFirstLastPara="1" rIns="91425" wrap="square" tIns="91425">
            <a:normAutofit/>
          </a:bodyPr>
          <a:lstStyle/>
          <a:p>
            <a:pPr indent="0" lvl="0" marL="0" rtl="0" algn="l">
              <a:lnSpc>
                <a:spcPct val="115000"/>
              </a:lnSpc>
              <a:spcBef>
                <a:spcPts val="200"/>
              </a:spcBef>
              <a:spcAft>
                <a:spcPts val="0"/>
              </a:spcAft>
              <a:buNone/>
            </a:pPr>
            <a:r>
              <a:rPr b="1" lang="en" sz="1100">
                <a:solidFill>
                  <a:schemeClr val="dk1"/>
                </a:solidFill>
              </a:rPr>
              <a:t>Paper:</a:t>
            </a:r>
            <a:r>
              <a:rPr lang="en" sz="1100">
                <a:solidFill>
                  <a:schemeClr val="dk1"/>
                </a:solidFill>
              </a:rPr>
              <a:t> </a:t>
            </a:r>
            <a:r>
              <a:rPr i="1" lang="en" sz="1100">
                <a:solidFill>
                  <a:schemeClr val="dk1"/>
                </a:solidFill>
              </a:rPr>
              <a:t>HoneyShip: Unveiling Cyber Threats to Maritime VSAT Systems with a High-Interaction Honeypot</a:t>
            </a:r>
            <a:r>
              <a:rPr lang="en" sz="1100">
                <a:solidFill>
                  <a:schemeClr val="dk1"/>
                </a:solidFill>
              </a:rPr>
              <a:t> (2025).</a:t>
            </a:r>
            <a:endParaRPr sz="1100">
              <a:solidFill>
                <a:schemeClr val="dk1"/>
              </a:solidFill>
            </a:endParaRPr>
          </a:p>
          <a:p>
            <a:pPr indent="0" lvl="0" marL="0" rtl="0" algn="l">
              <a:lnSpc>
                <a:spcPct val="115000"/>
              </a:lnSpc>
              <a:spcBef>
                <a:spcPts val="200"/>
              </a:spcBef>
              <a:spcAft>
                <a:spcPts val="0"/>
              </a:spcAft>
              <a:buNone/>
            </a:pPr>
            <a:r>
              <a:rPr b="1" lang="en" sz="1100">
                <a:solidFill>
                  <a:schemeClr val="dk1"/>
                </a:solidFill>
              </a:rPr>
              <a:t>The Solution:</a:t>
            </a:r>
            <a:r>
              <a:rPr lang="en" sz="1100">
                <a:solidFill>
                  <a:schemeClr val="dk1"/>
                </a:solidFill>
              </a:rPr>
              <a:t> Design, deploy, and analyze data from a specialized, high-interaction honeypot simulating a VSAT system.</a:t>
            </a:r>
            <a:endParaRPr sz="1100">
              <a:solidFill>
                <a:schemeClr val="dk1"/>
              </a:solidFill>
            </a:endParaRPr>
          </a:p>
          <a:p>
            <a:pPr indent="0" lvl="0" marL="0" rtl="0" algn="l">
              <a:lnSpc>
                <a:spcPct val="115000"/>
              </a:lnSpc>
              <a:spcBef>
                <a:spcPts val="200"/>
              </a:spcBef>
              <a:spcAft>
                <a:spcPts val="0"/>
              </a:spcAft>
              <a:buNone/>
            </a:pPr>
            <a:r>
              <a:rPr b="1" lang="en" sz="1100">
                <a:solidFill>
                  <a:schemeClr val="dk1"/>
                </a:solidFill>
              </a:rPr>
              <a:t>Methodology:</a:t>
            </a:r>
            <a:r>
              <a:rPr lang="en" sz="1100">
                <a:solidFill>
                  <a:schemeClr val="dk1"/>
                </a:solidFill>
              </a:rPr>
              <a:t> Reconnaissance via Shodan to identify real-world VSAT vulnerabilities.</a:t>
            </a:r>
            <a:endParaRPr sz="1100">
              <a:solidFill>
                <a:schemeClr val="dk1"/>
              </a:solidFill>
            </a:endParaRPr>
          </a:p>
          <a:p>
            <a:pPr indent="0" lvl="0" marL="0" rtl="0" algn="l">
              <a:lnSpc>
                <a:spcPct val="115000"/>
              </a:lnSpc>
              <a:spcBef>
                <a:spcPts val="200"/>
              </a:spcBef>
              <a:spcAft>
                <a:spcPts val="0"/>
              </a:spcAft>
              <a:buNone/>
            </a:pPr>
            <a:r>
              <a:rPr lang="en" sz="1100">
                <a:solidFill>
                  <a:schemeClr val="dk1"/>
                </a:solidFill>
              </a:rPr>
              <a:t>Verification via Nmap.</a:t>
            </a:r>
            <a:endParaRPr sz="1100">
              <a:solidFill>
                <a:schemeClr val="dk1"/>
              </a:solidFill>
            </a:endParaRPr>
          </a:p>
          <a:p>
            <a:pPr indent="0" lvl="0" marL="0" rtl="0" algn="l">
              <a:lnSpc>
                <a:spcPct val="115000"/>
              </a:lnSpc>
              <a:spcBef>
                <a:spcPts val="200"/>
              </a:spcBef>
              <a:spcAft>
                <a:spcPts val="0"/>
              </a:spcAft>
              <a:buNone/>
            </a:pPr>
            <a:r>
              <a:rPr lang="en" sz="1100">
                <a:solidFill>
                  <a:schemeClr val="dk1"/>
                </a:solidFill>
              </a:rPr>
              <a:t>Deployment of an indistinguishable decoy.</a:t>
            </a:r>
            <a:endParaRPr sz="1100">
              <a:solidFill>
                <a:schemeClr val="dk1"/>
              </a:solidFill>
            </a:endParaRPr>
          </a:p>
          <a:p>
            <a:pPr indent="0" lvl="0" marL="0" rtl="0" algn="l">
              <a:lnSpc>
                <a:spcPct val="115000"/>
              </a:lnSpc>
              <a:spcBef>
                <a:spcPts val="200"/>
              </a:spcBef>
              <a:spcAft>
                <a:spcPts val="0"/>
              </a:spcAft>
              <a:buNone/>
            </a:pPr>
            <a:r>
              <a:rPr b="1" lang="en" sz="1100">
                <a:solidFill>
                  <a:schemeClr val="dk1"/>
                </a:solidFill>
              </a:rPr>
              <a:t>Results:</a:t>
            </a:r>
            <a:r>
              <a:rPr lang="en" sz="1100">
                <a:solidFill>
                  <a:schemeClr val="dk1"/>
                </a:solidFill>
              </a:rPr>
              <a:t> Logged thousands of interactions; identified automated probing and maritime-specific threat patterns.</a:t>
            </a:r>
            <a:endParaRPr b="1" sz="2000">
              <a:solidFill>
                <a:schemeClr val="dk1"/>
              </a:solidFill>
            </a:endParaRPr>
          </a:p>
        </p:txBody>
      </p:sp>
      <p:sp>
        <p:nvSpPr>
          <p:cNvPr id="105" name="Google Shape;105;p18"/>
          <p:cNvSpPr txBox="1"/>
          <p:nvPr>
            <p:ph idx="12" type="sldNum"/>
          </p:nvPr>
        </p:nvSpPr>
        <p:spPr>
          <a:xfrm>
            <a:off x="8472450" y="4795402"/>
            <a:ext cx="548700" cy="285900"/>
          </a:xfrm>
          <a:prstGeom prst="rect">
            <a:avLst/>
          </a:prstGeom>
        </p:spPr>
        <p:txBody>
          <a:bodyPr anchorCtr="0" anchor="ctr" bIns="91425" lIns="91425" spcFirstLastPara="1" rIns="91425" wrap="square" tIns="91425">
            <a:normAutofit fontScale="77500" lnSpcReduction="20000"/>
          </a:bodyPr>
          <a:lstStyle/>
          <a:p>
            <a:pPr indent="0" lvl="0" marL="0" rtl="0" algn="r">
              <a:spcBef>
                <a:spcPts val="0"/>
              </a:spcBef>
              <a:spcAft>
                <a:spcPts val="0"/>
              </a:spcAft>
              <a:buNone/>
            </a:pPr>
            <a:fld id="{00000000-1234-1234-1234-123412341234}" type="slidenum">
              <a:rPr lang="en"/>
              <a:t>‹#›</a:t>
            </a:fld>
            <a:endParaRPr/>
          </a:p>
        </p:txBody>
      </p:sp>
      <p:pic>
        <p:nvPicPr>
          <p:cNvPr id="106" name="Google Shape;106;p18" title="11087909-fig-1-source-large.gif"/>
          <p:cNvPicPr preferRelativeResize="0"/>
          <p:nvPr/>
        </p:nvPicPr>
        <p:blipFill>
          <a:blip r:embed="rId3">
            <a:alphaModFix/>
          </a:blip>
          <a:stretch>
            <a:fillRect/>
          </a:stretch>
        </p:blipFill>
        <p:spPr>
          <a:xfrm>
            <a:off x="5375075" y="675200"/>
            <a:ext cx="3464125" cy="2544775"/>
          </a:xfrm>
          <a:prstGeom prst="rect">
            <a:avLst/>
          </a:prstGeom>
          <a:noFill/>
          <a:ln>
            <a:noFill/>
          </a:ln>
        </p:spPr>
      </p:pic>
      <p:sp>
        <p:nvSpPr>
          <p:cNvPr id="107" name="Google Shape;107;p18"/>
          <p:cNvSpPr txBox="1"/>
          <p:nvPr/>
        </p:nvSpPr>
        <p:spPr>
          <a:xfrm>
            <a:off x="5126538" y="3459025"/>
            <a:ext cx="3961200" cy="32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1"/>
                </a:solidFill>
              </a:rPr>
              <a:t>Fig. </a:t>
            </a:r>
            <a:r>
              <a:rPr lang="en" sz="800">
                <a:solidFill>
                  <a:schemeClr val="dk1"/>
                </a:solidFill>
                <a:highlight>
                  <a:srgbClr val="FFFFFF"/>
                </a:highlight>
                <a:latin typeface="Verdana"/>
                <a:ea typeface="Verdana"/>
                <a:cs typeface="Verdana"/>
                <a:sym typeface="Verdana"/>
              </a:rPr>
              <a:t>A simplified overview of a ship's network, where the VSAT provides internet access to a LAN while being connected to an NMEA bus.</a:t>
            </a:r>
            <a:endParaRPr sz="8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9"/>
          <p:cNvSpPr txBox="1"/>
          <p:nvPr>
            <p:ph type="title"/>
          </p:nvPr>
        </p:nvSpPr>
        <p:spPr>
          <a:xfrm>
            <a:off x="0" y="0"/>
            <a:ext cx="80613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100">
                <a:solidFill>
                  <a:srgbClr val="1C4587"/>
                </a:solidFill>
              </a:rPr>
              <a:t>Paper 2 - HoneyShip Architecture</a:t>
            </a:r>
            <a:endParaRPr b="1" sz="2100">
              <a:solidFill>
                <a:srgbClr val="1C4587"/>
              </a:solidFill>
            </a:endParaRPr>
          </a:p>
        </p:txBody>
      </p:sp>
      <p:sp>
        <p:nvSpPr>
          <p:cNvPr id="113" name="Google Shape;113;p19"/>
          <p:cNvSpPr txBox="1"/>
          <p:nvPr>
            <p:ph idx="1" type="body"/>
          </p:nvPr>
        </p:nvSpPr>
        <p:spPr>
          <a:xfrm>
            <a:off x="70775" y="572700"/>
            <a:ext cx="4226100" cy="4153800"/>
          </a:xfrm>
          <a:prstGeom prst="rect">
            <a:avLst/>
          </a:prstGeom>
          <a:ln>
            <a:noFill/>
          </a:ln>
        </p:spPr>
        <p:txBody>
          <a:bodyPr anchorCtr="0" anchor="t" bIns="91425" lIns="91425" spcFirstLastPara="1" rIns="91425" wrap="square" tIns="91425">
            <a:normAutofit/>
          </a:bodyPr>
          <a:lstStyle/>
          <a:p>
            <a:pPr indent="0" lvl="0" marL="0" rtl="0" algn="l">
              <a:spcBef>
                <a:spcPts val="800"/>
              </a:spcBef>
              <a:spcAft>
                <a:spcPts val="0"/>
              </a:spcAft>
              <a:buClr>
                <a:schemeClr val="dk1"/>
              </a:buClr>
              <a:buSzPts val="1100"/>
              <a:buFont typeface="Arial"/>
              <a:buNone/>
            </a:pPr>
            <a:r>
              <a:rPr lang="en" sz="2000">
                <a:solidFill>
                  <a:schemeClr val="dk1"/>
                </a:solidFill>
              </a:rPr>
              <a:t>HTTP server entry point</a:t>
            </a:r>
            <a:endParaRPr sz="2000">
              <a:solidFill>
                <a:schemeClr val="dk1"/>
              </a:solidFill>
            </a:endParaRPr>
          </a:p>
          <a:p>
            <a:pPr indent="0" lvl="0" marL="0" rtl="0" algn="l">
              <a:spcBef>
                <a:spcPts val="800"/>
              </a:spcBef>
              <a:spcAft>
                <a:spcPts val="0"/>
              </a:spcAft>
              <a:buClr>
                <a:schemeClr val="dk1"/>
              </a:buClr>
              <a:buSzPts val="1100"/>
              <a:buFont typeface="Arial"/>
              <a:buNone/>
            </a:pPr>
            <a:r>
              <a:rPr lang="en" sz="2000">
                <a:solidFill>
                  <a:schemeClr val="dk1"/>
                </a:solidFill>
              </a:rPr>
              <a:t>Real-time data simulation</a:t>
            </a:r>
            <a:endParaRPr sz="2000">
              <a:solidFill>
                <a:schemeClr val="dk1"/>
              </a:solidFill>
            </a:endParaRPr>
          </a:p>
          <a:p>
            <a:pPr indent="0" lvl="0" marL="0" rtl="0" algn="l">
              <a:spcBef>
                <a:spcPts val="800"/>
              </a:spcBef>
              <a:spcAft>
                <a:spcPts val="0"/>
              </a:spcAft>
              <a:buClr>
                <a:schemeClr val="dk1"/>
              </a:buClr>
              <a:buSzPts val="1100"/>
              <a:buFont typeface="Arial"/>
              <a:buNone/>
            </a:pPr>
            <a:r>
              <a:rPr lang="en" sz="2000">
                <a:solidFill>
                  <a:schemeClr val="dk1"/>
                </a:solidFill>
              </a:rPr>
              <a:t>Traffic monitoring</a:t>
            </a:r>
            <a:endParaRPr sz="2000">
              <a:solidFill>
                <a:schemeClr val="dk1"/>
              </a:solidFill>
            </a:endParaRPr>
          </a:p>
          <a:p>
            <a:pPr indent="0" lvl="0" marL="0" rtl="0" algn="l">
              <a:spcBef>
                <a:spcPts val="800"/>
              </a:spcBef>
              <a:spcAft>
                <a:spcPts val="0"/>
              </a:spcAft>
              <a:buClr>
                <a:schemeClr val="dk1"/>
              </a:buClr>
              <a:buSzPts val="1100"/>
              <a:buFont typeface="Arial"/>
              <a:buNone/>
            </a:pPr>
            <a:r>
              <a:rPr lang="en" sz="2000">
                <a:solidFill>
                  <a:schemeClr val="dk1"/>
                </a:solidFill>
              </a:rPr>
              <a:t>Log analysis (ELK stack)</a:t>
            </a:r>
            <a:endParaRPr b="1" sz="2000">
              <a:solidFill>
                <a:schemeClr val="dk1"/>
              </a:solidFill>
            </a:endParaRPr>
          </a:p>
        </p:txBody>
      </p:sp>
      <p:sp>
        <p:nvSpPr>
          <p:cNvPr id="114" name="Google Shape;114;p19"/>
          <p:cNvSpPr txBox="1"/>
          <p:nvPr>
            <p:ph idx="12" type="sldNum"/>
          </p:nvPr>
        </p:nvSpPr>
        <p:spPr>
          <a:xfrm>
            <a:off x="8472450" y="4795402"/>
            <a:ext cx="548700" cy="285900"/>
          </a:xfrm>
          <a:prstGeom prst="rect">
            <a:avLst/>
          </a:prstGeom>
        </p:spPr>
        <p:txBody>
          <a:bodyPr anchorCtr="0" anchor="ctr" bIns="91425" lIns="91425" spcFirstLastPara="1" rIns="91425" wrap="square" tIns="91425">
            <a:normAutofit fontScale="77500" lnSpcReduction="20000"/>
          </a:bodyPr>
          <a:lstStyle/>
          <a:p>
            <a:pPr indent="0" lvl="0" marL="0" rtl="0" algn="r">
              <a:spcBef>
                <a:spcPts val="0"/>
              </a:spcBef>
              <a:spcAft>
                <a:spcPts val="0"/>
              </a:spcAft>
              <a:buNone/>
            </a:pPr>
            <a:fld id="{00000000-1234-1234-1234-123412341234}" type="slidenum">
              <a:rPr lang="en"/>
              <a:t>‹#›</a:t>
            </a:fld>
            <a:endParaRPr/>
          </a:p>
        </p:txBody>
      </p:sp>
      <p:pic>
        <p:nvPicPr>
          <p:cNvPr id="115" name="Google Shape;115;p19" title="11087909-fig-3-source-large.gif"/>
          <p:cNvPicPr preferRelativeResize="0"/>
          <p:nvPr/>
        </p:nvPicPr>
        <p:blipFill>
          <a:blip r:embed="rId3">
            <a:alphaModFix/>
          </a:blip>
          <a:stretch>
            <a:fillRect/>
          </a:stretch>
        </p:blipFill>
        <p:spPr>
          <a:xfrm>
            <a:off x="5339350" y="466725"/>
            <a:ext cx="3743675" cy="2638824"/>
          </a:xfrm>
          <a:prstGeom prst="rect">
            <a:avLst/>
          </a:prstGeom>
          <a:noFill/>
          <a:ln>
            <a:noFill/>
          </a:ln>
        </p:spPr>
      </p:pic>
      <p:sp>
        <p:nvSpPr>
          <p:cNvPr id="116" name="Google Shape;116;p19"/>
          <p:cNvSpPr txBox="1"/>
          <p:nvPr/>
        </p:nvSpPr>
        <p:spPr>
          <a:xfrm>
            <a:off x="5260150" y="3105550"/>
            <a:ext cx="3780000" cy="3888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 sz="800">
                <a:solidFill>
                  <a:schemeClr val="dk1"/>
                </a:solidFill>
              </a:rPr>
              <a:t>Fig.</a:t>
            </a:r>
            <a:r>
              <a:rPr lang="en" sz="800">
                <a:solidFill>
                  <a:schemeClr val="dk1"/>
                </a:solidFill>
                <a:highlight>
                  <a:srgbClr val="FFFFFF"/>
                </a:highlight>
                <a:latin typeface="Verdana"/>
                <a:ea typeface="Verdana"/>
                <a:cs typeface="Verdana"/>
                <a:sym typeface="Verdana"/>
              </a:rPr>
              <a:t>The Architecture of the HoneyShip honeypot, showing the components to provide the VSAT interface, the updating of the honeypot interface, capturing and analyzing network traffic, and the ELK stack for real-time monitoring and analysis.</a:t>
            </a:r>
            <a:endParaRPr sz="8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0"/>
          <p:cNvSpPr txBox="1"/>
          <p:nvPr>
            <p:ph type="title"/>
          </p:nvPr>
        </p:nvSpPr>
        <p:spPr>
          <a:xfrm>
            <a:off x="0" y="0"/>
            <a:ext cx="80613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100">
                <a:solidFill>
                  <a:srgbClr val="1C4587"/>
                </a:solidFill>
              </a:rPr>
              <a:t>The Relationship: Why it cites Paper 1</a:t>
            </a:r>
            <a:endParaRPr b="1" sz="2100">
              <a:solidFill>
                <a:srgbClr val="1C4587"/>
              </a:solidFill>
            </a:endParaRPr>
          </a:p>
        </p:txBody>
      </p:sp>
      <p:sp>
        <p:nvSpPr>
          <p:cNvPr id="122" name="Google Shape;122;p20"/>
          <p:cNvSpPr txBox="1"/>
          <p:nvPr>
            <p:ph idx="1" type="body"/>
          </p:nvPr>
        </p:nvSpPr>
        <p:spPr>
          <a:xfrm>
            <a:off x="70775" y="454250"/>
            <a:ext cx="5339700" cy="4272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b="1" sz="1200">
              <a:solidFill>
                <a:schemeClr val="dk1"/>
              </a:solidFill>
            </a:endParaRPr>
          </a:p>
          <a:p>
            <a:pPr indent="0" lvl="0" marL="0" rtl="0" algn="l">
              <a:spcBef>
                <a:spcPts val="0"/>
              </a:spcBef>
              <a:spcAft>
                <a:spcPts val="0"/>
              </a:spcAft>
              <a:buNone/>
            </a:pPr>
            <a:r>
              <a:t/>
            </a:r>
            <a:endParaRPr b="1" sz="1200">
              <a:solidFill>
                <a:schemeClr val="dk1"/>
              </a:solidFill>
            </a:endParaRPr>
          </a:p>
          <a:p>
            <a:pPr indent="0" lvl="0" marL="0" rtl="0" algn="l">
              <a:lnSpc>
                <a:spcPct val="150000"/>
              </a:lnSpc>
              <a:spcBef>
                <a:spcPts val="0"/>
              </a:spcBef>
              <a:spcAft>
                <a:spcPts val="0"/>
              </a:spcAft>
              <a:buNone/>
            </a:pPr>
            <a:r>
              <a:rPr b="1" lang="en" sz="1200">
                <a:solidFill>
                  <a:schemeClr val="dk1"/>
                </a:solidFill>
              </a:rPr>
              <a:t>The Substantive Link:</a:t>
            </a:r>
            <a:r>
              <a:rPr lang="en" sz="1200">
                <a:solidFill>
                  <a:schemeClr val="dk1"/>
                </a:solidFill>
              </a:rPr>
              <a:t> Paper 2 utilizes Paper 1’s definition of the maritime CTI deficit as its primary justification.</a:t>
            </a:r>
            <a:endParaRPr sz="1200">
              <a:solidFill>
                <a:schemeClr val="dk1"/>
              </a:solidFill>
            </a:endParaRPr>
          </a:p>
          <a:p>
            <a:pPr indent="0" lvl="0" marL="0" rtl="0" algn="l">
              <a:lnSpc>
                <a:spcPct val="150000"/>
              </a:lnSpc>
              <a:spcBef>
                <a:spcPts val="0"/>
              </a:spcBef>
              <a:spcAft>
                <a:spcPts val="0"/>
              </a:spcAft>
              <a:buNone/>
            </a:pPr>
            <a:r>
              <a:rPr b="1" lang="en" sz="1200">
                <a:solidFill>
                  <a:schemeClr val="dk1"/>
                </a:solidFill>
              </a:rPr>
              <a:t>Evolution of Thought:</a:t>
            </a:r>
            <a:r>
              <a:rPr lang="en" sz="1200">
                <a:solidFill>
                  <a:schemeClr val="dk1"/>
                </a:solidFill>
              </a:rPr>
              <a:t> From macro-architecture (identifying the need) to micro-implementation (gathering the data).</a:t>
            </a:r>
            <a:endParaRPr sz="1200">
              <a:solidFill>
                <a:schemeClr val="dk1"/>
              </a:solidFill>
            </a:endParaRPr>
          </a:p>
          <a:p>
            <a:pPr indent="0" lvl="0" marL="0" rtl="0" algn="l">
              <a:lnSpc>
                <a:spcPct val="150000"/>
              </a:lnSpc>
              <a:spcBef>
                <a:spcPts val="0"/>
              </a:spcBef>
              <a:spcAft>
                <a:spcPts val="0"/>
              </a:spcAft>
              <a:buNone/>
            </a:pPr>
            <a:r>
              <a:rPr b="1" lang="en" sz="1200">
                <a:solidFill>
                  <a:schemeClr val="dk1"/>
                </a:solidFill>
              </a:rPr>
              <a:t>The Build:</a:t>
            </a:r>
            <a:r>
              <a:rPr lang="en" sz="1200">
                <a:solidFill>
                  <a:schemeClr val="dk1"/>
                </a:solidFill>
              </a:rPr>
              <a:t> HoneyShip solves the scalability and complexity issues of the "Ship Honeynet" by isolating the most critical attack vector.</a:t>
            </a:r>
            <a:endParaRPr sz="1200">
              <a:solidFill>
                <a:schemeClr val="dk1"/>
              </a:solidFill>
            </a:endParaRPr>
          </a:p>
          <a:p>
            <a:pPr indent="0" lvl="0" marL="0" rtl="0" algn="l">
              <a:spcBef>
                <a:spcPts val="0"/>
              </a:spcBef>
              <a:spcAft>
                <a:spcPts val="0"/>
              </a:spcAft>
              <a:buNone/>
            </a:pPr>
            <a:r>
              <a:t/>
            </a:r>
            <a:endParaRPr b="1" sz="1100">
              <a:solidFill>
                <a:schemeClr val="dk1"/>
              </a:solidFill>
            </a:endParaRPr>
          </a:p>
          <a:p>
            <a:pPr indent="0" lvl="0" marL="0" rtl="0" algn="l">
              <a:spcBef>
                <a:spcPts val="800"/>
              </a:spcBef>
              <a:spcAft>
                <a:spcPts val="0"/>
              </a:spcAft>
              <a:buNone/>
            </a:pPr>
            <a:r>
              <a:t/>
            </a:r>
            <a:endParaRPr b="1" sz="1100">
              <a:solidFill>
                <a:schemeClr val="dk1"/>
              </a:solidFill>
            </a:endParaRPr>
          </a:p>
        </p:txBody>
      </p:sp>
      <p:sp>
        <p:nvSpPr>
          <p:cNvPr id="123" name="Google Shape;123;p20"/>
          <p:cNvSpPr txBox="1"/>
          <p:nvPr>
            <p:ph idx="12" type="sldNum"/>
          </p:nvPr>
        </p:nvSpPr>
        <p:spPr>
          <a:xfrm>
            <a:off x="8472450" y="4795402"/>
            <a:ext cx="548700" cy="285900"/>
          </a:xfrm>
          <a:prstGeom prst="rect">
            <a:avLst/>
          </a:prstGeom>
        </p:spPr>
        <p:txBody>
          <a:bodyPr anchorCtr="0" anchor="ctr" bIns="91425" lIns="91425" spcFirstLastPara="1" rIns="91425" wrap="square" tIns="91425">
            <a:normAutofit fontScale="77500" lnSpcReduction="20000"/>
          </a:bodyPr>
          <a:lstStyle/>
          <a:p>
            <a:pPr indent="0" lvl="0" marL="0" rtl="0" algn="r">
              <a:spcBef>
                <a:spcPts val="0"/>
              </a:spcBef>
              <a:spcAft>
                <a:spcPts val="0"/>
              </a:spcAft>
              <a:buNone/>
            </a:pPr>
            <a:fld id="{00000000-1234-1234-1234-123412341234}" type="slidenum">
              <a:rPr lang="en"/>
              <a:t>‹#›</a:t>
            </a:fld>
            <a:endParaRPr/>
          </a:p>
        </p:txBody>
      </p:sp>
      <p:pic>
        <p:nvPicPr>
          <p:cNvPr id="124" name="Google Shape;124;p20" title="ChatGPT Image Mar 30, 2026, 12_29_33 PM.png"/>
          <p:cNvPicPr preferRelativeResize="0"/>
          <p:nvPr/>
        </p:nvPicPr>
        <p:blipFill>
          <a:blip r:embed="rId3">
            <a:alphaModFix/>
          </a:blip>
          <a:stretch>
            <a:fillRect/>
          </a:stretch>
        </p:blipFill>
        <p:spPr>
          <a:xfrm>
            <a:off x="5270425" y="572700"/>
            <a:ext cx="4740499" cy="3160325"/>
          </a:xfrm>
          <a:prstGeom prst="rect">
            <a:avLst/>
          </a:prstGeom>
          <a:noFill/>
          <a:ln>
            <a:noFill/>
          </a:ln>
        </p:spPr>
      </p:pic>
      <p:sp>
        <p:nvSpPr>
          <p:cNvPr id="125" name="Google Shape;125;p20"/>
          <p:cNvSpPr txBox="1"/>
          <p:nvPr/>
        </p:nvSpPr>
        <p:spPr>
          <a:xfrm>
            <a:off x="6046700" y="3918600"/>
            <a:ext cx="2996100" cy="48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1"/>
                </a:solidFill>
              </a:rPr>
              <a:t>Fig. Paper 1 as the foundational layer enabling and supporting the structure developed in Paper 2</a:t>
            </a:r>
            <a:endParaRPr sz="9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1"/>
          <p:cNvSpPr txBox="1"/>
          <p:nvPr>
            <p:ph type="title"/>
          </p:nvPr>
        </p:nvSpPr>
        <p:spPr>
          <a:xfrm>
            <a:off x="0" y="0"/>
            <a:ext cx="80613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100">
                <a:solidFill>
                  <a:srgbClr val="1C4587"/>
                </a:solidFill>
              </a:rPr>
              <a:t>HoneyShip Methodology &amp; Findings</a:t>
            </a:r>
            <a:endParaRPr b="1" sz="2100">
              <a:solidFill>
                <a:srgbClr val="1C4587"/>
              </a:solidFill>
            </a:endParaRPr>
          </a:p>
        </p:txBody>
      </p:sp>
      <p:sp>
        <p:nvSpPr>
          <p:cNvPr id="131" name="Google Shape;131;p21"/>
          <p:cNvSpPr txBox="1"/>
          <p:nvPr>
            <p:ph idx="1" type="body"/>
          </p:nvPr>
        </p:nvSpPr>
        <p:spPr>
          <a:xfrm>
            <a:off x="70775" y="454250"/>
            <a:ext cx="4376400" cy="4272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100">
                <a:solidFill>
                  <a:schemeClr val="dk1"/>
                </a:solidFill>
              </a:rPr>
              <a:t>Focused Attack Vector:</a:t>
            </a:r>
            <a:r>
              <a:rPr lang="en" sz="1100">
                <a:solidFill>
                  <a:schemeClr val="dk1"/>
                </a:solidFill>
              </a:rPr>
              <a:t> VSAT (Very Small Aperture Terminal) Systems. The satellite uplink.</a:t>
            </a:r>
            <a:endParaRPr sz="1100">
              <a:solidFill>
                <a:schemeClr val="dk1"/>
              </a:solidFill>
            </a:endParaRPr>
          </a:p>
          <a:p>
            <a:pPr indent="0" lvl="0" marL="0" rtl="0" algn="l">
              <a:spcBef>
                <a:spcPts val="200"/>
              </a:spcBef>
              <a:spcAft>
                <a:spcPts val="0"/>
              </a:spcAft>
              <a:buClr>
                <a:schemeClr val="dk1"/>
              </a:buClr>
              <a:buSzPts val="1100"/>
              <a:buFont typeface="Arial"/>
              <a:buNone/>
            </a:pPr>
            <a:r>
              <a:rPr b="1" lang="en" sz="1100">
                <a:solidFill>
                  <a:schemeClr val="dk1"/>
                </a:solidFill>
              </a:rPr>
              <a:t>High Interaction Deception:</a:t>
            </a:r>
            <a:r>
              <a:rPr lang="en" sz="1100">
                <a:solidFill>
                  <a:schemeClr val="dk1"/>
                </a:solidFill>
              </a:rPr>
              <a:t> Not just simulating an open port, but an interactive OS/stack.</a:t>
            </a:r>
            <a:endParaRPr sz="1100">
              <a:solidFill>
                <a:schemeClr val="dk1"/>
              </a:solidFill>
            </a:endParaRPr>
          </a:p>
          <a:p>
            <a:pPr indent="0" lvl="0" marL="0" rtl="0" algn="l">
              <a:spcBef>
                <a:spcPts val="200"/>
              </a:spcBef>
              <a:spcAft>
                <a:spcPts val="0"/>
              </a:spcAft>
              <a:buNone/>
            </a:pPr>
            <a:r>
              <a:rPr b="1" lang="en" sz="1100">
                <a:solidFill>
                  <a:schemeClr val="dk1"/>
                </a:solidFill>
              </a:rPr>
              <a:t>Methodology:</a:t>
            </a:r>
            <a:r>
              <a:rPr lang="en" sz="1100">
                <a:solidFill>
                  <a:schemeClr val="dk1"/>
                </a:solidFill>
              </a:rPr>
              <a:t> Used Shodan to fingerprint real-world, vulnerable VSAT systems, then verified signature/uptime with Nmap.</a:t>
            </a:r>
            <a:endParaRPr sz="1100">
              <a:solidFill>
                <a:schemeClr val="dk1"/>
              </a:solidFill>
            </a:endParaRPr>
          </a:p>
          <a:p>
            <a:pPr indent="0" lvl="0" marL="0" rtl="0" algn="l">
              <a:spcBef>
                <a:spcPts val="1200"/>
              </a:spcBef>
              <a:spcAft>
                <a:spcPts val="0"/>
              </a:spcAft>
              <a:buNone/>
            </a:pPr>
            <a:r>
              <a:t/>
            </a:r>
            <a:endParaRPr b="1" sz="1100">
              <a:solidFill>
                <a:schemeClr val="dk1"/>
              </a:solidFill>
            </a:endParaRPr>
          </a:p>
          <a:p>
            <a:pPr indent="0" lvl="0" marL="0" rtl="0" algn="l">
              <a:spcBef>
                <a:spcPts val="1200"/>
              </a:spcBef>
              <a:spcAft>
                <a:spcPts val="0"/>
              </a:spcAft>
              <a:buNone/>
            </a:pPr>
            <a:r>
              <a:t/>
            </a:r>
            <a:endParaRPr sz="1100">
              <a:solidFill>
                <a:schemeClr val="dk1"/>
              </a:solidFill>
            </a:endParaRPr>
          </a:p>
          <a:p>
            <a:pPr indent="0" lvl="0" marL="0" rtl="0" algn="l">
              <a:spcBef>
                <a:spcPts val="1200"/>
              </a:spcBef>
              <a:spcAft>
                <a:spcPts val="1200"/>
              </a:spcAft>
              <a:buClr>
                <a:schemeClr val="dk1"/>
              </a:buClr>
              <a:buSzPts val="1100"/>
              <a:buFont typeface="Arial"/>
              <a:buNone/>
            </a:pPr>
            <a:r>
              <a:t/>
            </a:r>
            <a:endParaRPr sz="1100">
              <a:solidFill>
                <a:schemeClr val="dk1"/>
              </a:solidFill>
            </a:endParaRPr>
          </a:p>
        </p:txBody>
      </p:sp>
      <p:sp>
        <p:nvSpPr>
          <p:cNvPr id="132" name="Google Shape;132;p21"/>
          <p:cNvSpPr txBox="1"/>
          <p:nvPr>
            <p:ph idx="12" type="sldNum"/>
          </p:nvPr>
        </p:nvSpPr>
        <p:spPr>
          <a:xfrm>
            <a:off x="8472450" y="4795402"/>
            <a:ext cx="548700" cy="285900"/>
          </a:xfrm>
          <a:prstGeom prst="rect">
            <a:avLst/>
          </a:prstGeom>
        </p:spPr>
        <p:txBody>
          <a:bodyPr anchorCtr="0" anchor="ctr" bIns="91425" lIns="91425" spcFirstLastPara="1" rIns="91425" wrap="square" tIns="91425">
            <a:normAutofit fontScale="77500" lnSpcReduction="20000"/>
          </a:bodyPr>
          <a:lstStyle/>
          <a:p>
            <a:pPr indent="0" lvl="0" marL="0" rtl="0" algn="r">
              <a:spcBef>
                <a:spcPts val="0"/>
              </a:spcBef>
              <a:spcAft>
                <a:spcPts val="0"/>
              </a:spcAft>
              <a:buNone/>
            </a:pPr>
            <a:fld id="{00000000-1234-1234-1234-123412341234}" type="slidenum">
              <a:rPr lang="en"/>
              <a:t>‹#›</a:t>
            </a:fld>
            <a:endParaRPr/>
          </a:p>
        </p:txBody>
      </p:sp>
      <p:pic>
        <p:nvPicPr>
          <p:cNvPr id="133" name="Google Shape;133;p21" title="11087909-fig-4-source-large.gif"/>
          <p:cNvPicPr preferRelativeResize="0"/>
          <p:nvPr/>
        </p:nvPicPr>
        <p:blipFill>
          <a:blip r:embed="rId3">
            <a:alphaModFix/>
          </a:blip>
          <a:stretch>
            <a:fillRect/>
          </a:stretch>
        </p:blipFill>
        <p:spPr>
          <a:xfrm>
            <a:off x="4572000" y="454250"/>
            <a:ext cx="4392025" cy="2388833"/>
          </a:xfrm>
          <a:prstGeom prst="rect">
            <a:avLst/>
          </a:prstGeom>
          <a:noFill/>
          <a:ln>
            <a:noFill/>
          </a:ln>
        </p:spPr>
      </p:pic>
      <p:pic>
        <p:nvPicPr>
          <p:cNvPr id="134" name="Google Shape;134;p21" title="11087909-table-4-source-large.gif"/>
          <p:cNvPicPr preferRelativeResize="0"/>
          <p:nvPr/>
        </p:nvPicPr>
        <p:blipFill>
          <a:blip r:embed="rId4">
            <a:alphaModFix/>
          </a:blip>
          <a:stretch>
            <a:fillRect/>
          </a:stretch>
        </p:blipFill>
        <p:spPr>
          <a:xfrm>
            <a:off x="286800" y="1844423"/>
            <a:ext cx="3771451" cy="2460650"/>
          </a:xfrm>
          <a:prstGeom prst="rect">
            <a:avLst/>
          </a:prstGeom>
          <a:noFill/>
          <a:ln>
            <a:noFill/>
          </a:ln>
        </p:spPr>
      </p:pic>
      <p:sp>
        <p:nvSpPr>
          <p:cNvPr id="135" name="Google Shape;135;p21"/>
          <p:cNvSpPr txBox="1"/>
          <p:nvPr/>
        </p:nvSpPr>
        <p:spPr>
          <a:xfrm>
            <a:off x="4721050" y="3388350"/>
            <a:ext cx="4299900" cy="12840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rPr>
              <a:t>Key Findings:</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rPr>
              <a:t>Thousands of unique IP interactions in one month.</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Most attacks are automated, probing known vulnerabilities.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Identified "Previously Unreported Patterns" of attack specifically targeting maritime protocols.</a:t>
            </a:r>
            <a:endParaRPr sz="1800">
              <a:solidFill>
                <a:schemeClr val="dk2"/>
              </a:solidFill>
            </a:endParaRPr>
          </a:p>
        </p:txBody>
      </p:sp>
      <p:sp>
        <p:nvSpPr>
          <p:cNvPr id="136" name="Google Shape;136;p21"/>
          <p:cNvSpPr txBox="1"/>
          <p:nvPr/>
        </p:nvSpPr>
        <p:spPr>
          <a:xfrm>
            <a:off x="425975" y="4254425"/>
            <a:ext cx="3323100" cy="41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900">
                <a:solidFill>
                  <a:schemeClr val="dk1"/>
                </a:solidFill>
              </a:rPr>
              <a:t>Table</a:t>
            </a:r>
            <a:r>
              <a:rPr lang="en" sz="900">
                <a:solidFill>
                  <a:schemeClr val="dk1"/>
                </a:solidFill>
              </a:rPr>
              <a:t>. </a:t>
            </a:r>
            <a:r>
              <a:rPr lang="en" sz="900">
                <a:solidFill>
                  <a:schemeClr val="dk1"/>
                </a:solidFill>
                <a:latin typeface="Verdana"/>
                <a:ea typeface="Verdana"/>
                <a:cs typeface="Verdana"/>
                <a:sym typeface="Verdana"/>
              </a:rPr>
              <a:t>The top 10 most active clients identified by ip address, ordered by the amount of http requests</a:t>
            </a:r>
            <a:endParaRPr sz="900">
              <a:solidFill>
                <a:schemeClr val="dk1"/>
              </a:solidFill>
            </a:endParaRPr>
          </a:p>
        </p:txBody>
      </p:sp>
      <p:sp>
        <p:nvSpPr>
          <p:cNvPr id="137" name="Google Shape;137;p21"/>
          <p:cNvSpPr txBox="1"/>
          <p:nvPr/>
        </p:nvSpPr>
        <p:spPr>
          <a:xfrm>
            <a:off x="5233650" y="2805075"/>
            <a:ext cx="3787500" cy="46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900">
                <a:solidFill>
                  <a:schemeClr val="dk1"/>
                </a:solidFill>
                <a:highlight>
                  <a:srgbClr val="FFFFFF"/>
                </a:highlight>
                <a:latin typeface="Verdana"/>
                <a:ea typeface="Verdana"/>
                <a:cs typeface="Verdana"/>
                <a:sym typeface="Verdana"/>
              </a:rPr>
              <a:t>Fig. </a:t>
            </a:r>
            <a:r>
              <a:rPr lang="en" sz="900">
                <a:solidFill>
                  <a:schemeClr val="dk1"/>
                </a:solidFill>
                <a:highlight>
                  <a:srgbClr val="FFFFFF"/>
                </a:highlight>
                <a:latin typeface="Verdana"/>
                <a:ea typeface="Verdana"/>
                <a:cs typeface="Verdana"/>
                <a:sym typeface="Verdana"/>
              </a:rPr>
              <a:t>The amount of previously unseen IP addresses of requests to the honeypot every 12 hours over one month</a:t>
            </a:r>
            <a:endParaRPr sz="900">
              <a:solidFill>
                <a:schemeClr val="dk1"/>
              </a:solidFill>
              <a:highlight>
                <a:srgbClr val="FFFFFF"/>
              </a:highlight>
              <a:latin typeface="Verdana"/>
              <a:ea typeface="Verdana"/>
              <a:cs typeface="Verdana"/>
              <a:sym typeface="Verdana"/>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2"/>
          <p:cNvSpPr txBox="1"/>
          <p:nvPr>
            <p:ph type="title"/>
          </p:nvPr>
        </p:nvSpPr>
        <p:spPr>
          <a:xfrm>
            <a:off x="0" y="0"/>
            <a:ext cx="80613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100">
                <a:solidFill>
                  <a:srgbClr val="1C4587"/>
                </a:solidFill>
              </a:rPr>
              <a:t>Synthesis &amp; </a:t>
            </a:r>
            <a:r>
              <a:rPr b="1" lang="en" sz="2100">
                <a:solidFill>
                  <a:srgbClr val="1C4587"/>
                </a:solidFill>
              </a:rPr>
              <a:t>Conclusion</a:t>
            </a:r>
            <a:endParaRPr b="1" sz="2100">
              <a:solidFill>
                <a:srgbClr val="1C4587"/>
              </a:solidFill>
            </a:endParaRPr>
          </a:p>
        </p:txBody>
      </p:sp>
      <p:sp>
        <p:nvSpPr>
          <p:cNvPr id="143" name="Google Shape;143;p22"/>
          <p:cNvSpPr txBox="1"/>
          <p:nvPr>
            <p:ph idx="1" type="body"/>
          </p:nvPr>
        </p:nvSpPr>
        <p:spPr>
          <a:xfrm>
            <a:off x="70775" y="487600"/>
            <a:ext cx="8950500" cy="42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200">
                <a:solidFill>
                  <a:schemeClr val="dk1"/>
                </a:solidFill>
              </a:rPr>
              <a:t>The Roadmap:</a:t>
            </a:r>
            <a:r>
              <a:rPr lang="en" sz="1200">
                <a:solidFill>
                  <a:schemeClr val="dk1"/>
                </a:solidFill>
              </a:rPr>
              <a:t> Effective maritime defense requires bridging comprehensive theory with targeted execution.</a:t>
            </a:r>
            <a:endParaRPr sz="1200">
              <a:solidFill>
                <a:schemeClr val="dk1"/>
              </a:solidFill>
            </a:endParaRPr>
          </a:p>
          <a:p>
            <a:pPr indent="0" lvl="0" marL="0" rtl="0" algn="l">
              <a:spcBef>
                <a:spcPts val="0"/>
              </a:spcBef>
              <a:spcAft>
                <a:spcPts val="0"/>
              </a:spcAft>
              <a:buNone/>
            </a:pPr>
            <a:r>
              <a:rPr b="1" lang="en" sz="1200">
                <a:solidFill>
                  <a:schemeClr val="dk1"/>
                </a:solidFill>
              </a:rPr>
              <a:t>The Future:</a:t>
            </a:r>
            <a:r>
              <a:rPr lang="en" sz="1200">
                <a:solidFill>
                  <a:schemeClr val="dk1"/>
                </a:solidFill>
              </a:rPr>
              <a:t> Aggregating data from specialized decoys (HoneyShip) to fulfill the original vision of sector-wide intelligence (Ship Honeynet).</a:t>
            </a:r>
            <a:endParaRPr b="1" sz="1200">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 sz="1200">
                <a:solidFill>
                  <a:schemeClr val="dk1"/>
                </a:solidFill>
              </a:rPr>
              <a:t>39,000+ interactions</a:t>
            </a:r>
            <a:endParaRPr b="1" sz="1200">
              <a:solidFill>
                <a:schemeClr val="dk1"/>
              </a:solidFill>
            </a:endParaRPr>
          </a:p>
          <a:p>
            <a:pPr indent="0" lvl="0" marL="0" rtl="0" algn="l">
              <a:lnSpc>
                <a:spcPct val="100000"/>
              </a:lnSpc>
              <a:spcBef>
                <a:spcPts val="0"/>
              </a:spcBef>
              <a:spcAft>
                <a:spcPts val="0"/>
              </a:spcAft>
              <a:buNone/>
            </a:pPr>
            <a:r>
              <a:rPr b="1" lang="en" sz="1200">
                <a:solidFill>
                  <a:schemeClr val="dk1"/>
                </a:solidFill>
              </a:rPr>
              <a:t>2,600+ unique IPs</a:t>
            </a:r>
            <a:endParaRPr b="1" sz="1200">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 sz="1200">
                <a:solidFill>
                  <a:schemeClr val="dk1"/>
                </a:solidFill>
              </a:rPr>
              <a:t>Mostly automated attacks</a:t>
            </a:r>
            <a:endParaRPr b="1" sz="1200">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 sz="1200">
                <a:solidFill>
                  <a:schemeClr val="dk1"/>
                </a:solidFill>
              </a:rPr>
              <a:t>Known vulnerabilities exploited</a:t>
            </a:r>
            <a:endParaRPr b="1" sz="1200">
              <a:solidFill>
                <a:schemeClr val="dk1"/>
              </a:solidFill>
            </a:endParaRPr>
          </a:p>
          <a:p>
            <a:pPr indent="0" lvl="0" marL="0" rtl="0" algn="l">
              <a:spcBef>
                <a:spcPts val="1200"/>
              </a:spcBef>
              <a:spcAft>
                <a:spcPts val="0"/>
              </a:spcAft>
              <a:buNone/>
            </a:pPr>
            <a:r>
              <a:t/>
            </a:r>
            <a:endParaRPr b="1" sz="1100">
              <a:solidFill>
                <a:schemeClr val="dk1"/>
              </a:solidFill>
            </a:endParaRPr>
          </a:p>
          <a:p>
            <a:pPr indent="0" lvl="0" marL="0" rtl="0" algn="l">
              <a:spcBef>
                <a:spcPts val="1200"/>
              </a:spcBef>
              <a:spcAft>
                <a:spcPts val="0"/>
              </a:spcAft>
              <a:buNone/>
            </a:pPr>
            <a:r>
              <a:rPr b="1" lang="en" sz="1100">
                <a:solidFill>
                  <a:schemeClr val="dk1"/>
                </a:solidFill>
              </a:rPr>
              <a:t>Synthesis:</a:t>
            </a:r>
            <a:r>
              <a:rPr lang="en" sz="1100">
                <a:solidFill>
                  <a:schemeClr val="dk1"/>
                </a:solidFill>
              </a:rPr>
              <a:t> These papers demonstrate the maturation of a niche field.</a:t>
            </a:r>
            <a:endParaRPr sz="1100">
              <a:solidFill>
                <a:schemeClr val="dk1"/>
              </a:solidFill>
            </a:endParaRPr>
          </a:p>
          <a:p>
            <a:pPr indent="0" lvl="0" marL="457200" rtl="0" algn="l">
              <a:lnSpc>
                <a:spcPct val="100000"/>
              </a:lnSpc>
              <a:spcBef>
                <a:spcPts val="1200"/>
              </a:spcBef>
              <a:spcAft>
                <a:spcPts val="0"/>
              </a:spcAft>
              <a:buNone/>
            </a:pPr>
            <a:r>
              <a:rPr b="1" lang="en" sz="1100">
                <a:solidFill>
                  <a:schemeClr val="dk1"/>
                </a:solidFill>
              </a:rPr>
              <a:t>Phase 1 (Vavra et al. 2023):</a:t>
            </a:r>
            <a:r>
              <a:rPr lang="en" sz="1100">
                <a:solidFill>
                  <a:schemeClr val="dk1"/>
                </a:solidFill>
              </a:rPr>
              <a:t> Vision and comprehensive framework (Theoretical Top-Down).</a:t>
            </a:r>
            <a:endParaRPr sz="1100">
              <a:solidFill>
                <a:schemeClr val="dk1"/>
              </a:solidFill>
            </a:endParaRPr>
          </a:p>
          <a:p>
            <a:pPr indent="0" lvl="0" marL="457200" rtl="0" algn="l">
              <a:lnSpc>
                <a:spcPct val="100000"/>
              </a:lnSpc>
              <a:spcBef>
                <a:spcPts val="500"/>
              </a:spcBef>
              <a:spcAft>
                <a:spcPts val="0"/>
              </a:spcAft>
              <a:buNone/>
            </a:pPr>
            <a:r>
              <a:rPr b="1" lang="en" sz="1100">
                <a:solidFill>
                  <a:schemeClr val="dk1"/>
                </a:solidFill>
              </a:rPr>
              <a:t>Phase 2 (HoneyShip 2025):</a:t>
            </a:r>
            <a:r>
              <a:rPr lang="en" sz="1100">
                <a:solidFill>
                  <a:schemeClr val="dk1"/>
                </a:solidFill>
              </a:rPr>
              <a:t> Targeted execution and real-world data gathering (Practical Bottom-Up).</a:t>
            </a:r>
            <a:endParaRPr sz="1100">
              <a:solidFill>
                <a:schemeClr val="dk1"/>
              </a:solidFill>
            </a:endParaRPr>
          </a:p>
          <a:p>
            <a:pPr indent="0" lvl="0" marL="457200" rtl="0" algn="l">
              <a:lnSpc>
                <a:spcPct val="100000"/>
              </a:lnSpc>
              <a:spcBef>
                <a:spcPts val="500"/>
              </a:spcBef>
              <a:spcAft>
                <a:spcPts val="0"/>
              </a:spcAft>
              <a:buNone/>
            </a:pPr>
            <a:r>
              <a:t/>
            </a:r>
            <a:endParaRPr sz="1100">
              <a:solidFill>
                <a:schemeClr val="dk1"/>
              </a:solidFill>
            </a:endParaRPr>
          </a:p>
          <a:p>
            <a:pPr indent="0" lvl="0" marL="0" rtl="0" algn="l">
              <a:spcBef>
                <a:spcPts val="800"/>
              </a:spcBef>
              <a:spcAft>
                <a:spcPts val="0"/>
              </a:spcAft>
              <a:buNone/>
            </a:pPr>
            <a:r>
              <a:rPr b="1" lang="en" sz="1200">
                <a:solidFill>
                  <a:schemeClr val="dk1"/>
                </a:solidFill>
              </a:rPr>
              <a:t>Takeaway:</a:t>
            </a:r>
            <a:r>
              <a:rPr lang="en" sz="1200">
                <a:solidFill>
                  <a:schemeClr val="dk1"/>
                </a:solidFill>
              </a:rPr>
              <a:t> Efficient maritime security requires starting with focused, high-interaction deception (like HoneyShip) before scaling to total-ship integration (like the Ship Honeynet).</a:t>
            </a:r>
            <a:endParaRPr sz="1200">
              <a:solidFill>
                <a:schemeClr val="dk1"/>
              </a:solidFill>
            </a:endParaRPr>
          </a:p>
        </p:txBody>
      </p:sp>
      <p:sp>
        <p:nvSpPr>
          <p:cNvPr id="144" name="Google Shape;144;p22"/>
          <p:cNvSpPr txBox="1"/>
          <p:nvPr>
            <p:ph idx="12" type="sldNum"/>
          </p:nvPr>
        </p:nvSpPr>
        <p:spPr>
          <a:xfrm>
            <a:off x="8472450" y="4795402"/>
            <a:ext cx="548700" cy="285900"/>
          </a:xfrm>
          <a:prstGeom prst="rect">
            <a:avLst/>
          </a:prstGeom>
        </p:spPr>
        <p:txBody>
          <a:bodyPr anchorCtr="0" anchor="ctr" bIns="91425" lIns="91425" spcFirstLastPara="1" rIns="91425" wrap="square" tIns="91425">
            <a:normAutofit fontScale="77500" lnSpcReduction="20000"/>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